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95" d="100"/>
          <a:sy n="95" d="100"/>
        </p:scale>
        <p:origin x="16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207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research question, not the result. Say that task-trained RNNs are often used as mechanistic hypotheses for neural computation. This paper asks whether the mechanism found by standard training is the only plausible mechanism, or just the easiest one for optimization to find. Emphasize that the presentation will be method-focused: the key contribution is not a new benchmark score, but a procedure for discovering alternative dynamical solutions.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matters scientifically. Task-trained RNNs are not just engineering models here; they are candidate mechanistic models of brain computation. Ideally, if we train many networks, we should obtain a set of competing hypotheses. The problem is that standard optimization often returns the same simple dynamical motif, such as fixed points or slow manifolds. Then a collection of trained networks only looks diverse at the parameter level, while the mechanism is effectively the same.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design problem. A different solution must still solve the task. It must not be a trivial coordinate transformation, because neural axes in an artificial RNN are arbitrary. And it must not exploit the similarity metric by adding nuisance dynamics. These criteria explain why the authors do not just use standard RSA or a symmetric similarity score. They need an online penalty that targets reusable internal computations.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defines the baseline. The network dynamics are standard: the recurrent state evolves under decay, recurrent weights, and external input. The output is a linear readout from firing rates. The reference RNN minimizes only the task loss. The authors also train a standard comparison population across seeds and initialization gains. This lets them ask whether INSD finds solutions outside the range reached by ordinary training variations.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method. Train the reference normally. Then train alt-1 with the same task loss plus a penalty if its internal neural activity is linearly predictive of the reference activity. For alt-2, penalize similarity to both previous solutions. The point is iterative deflation: each time a solution is found, the next model is pushed away from it. Emphasize that the output target is unchanged; the method modifies the internal route to the output.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technical design choice after the loss itself. If two networks both match the target output, the activity components that drive that output must share information. Penalizing that component would directly conflict with task performance. Therefore, before computing the similarity penalty, the authors project firing rates into each network's readout nullspace. The penalty is then applied where alternative internal dynamics can exist without changing the output.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predictivity is used because it is efficient and invariant to simple rotations or relabeling of neural axes. The subtle point is that it must be used in the right direction. If the new model contains the reference solution plus many irrelevant dimensions, a wrong-direction or symmetric metric can be fooled. By asking whether the reference activity can be reconstructed from the penalized model, the method detects a hidden copy of the old representation and penalizes it. DSA is more directly dynamical, but too expensive to use as an online loss.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paper's evidence is stronger than a simple figure comparison. The authors test three tasks: context-dependent integration, discrete 3-bit memory, and analog angle memory. They then assess alternatives at three levels: representational geometry, dynamical systems structure, and functional performance under out-of-distribution conditions. This directly addresses the concern that INSD might only change the coordinate system rather than the mechanism.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main empirical result. In context-dependent integration, standard RNNs use line or slow-point attractor-like dynamics. INSD produces oscillatory, evolving trajectories. This is not merely cosmetic: the representations become less predictive of the standard population and the DSA embedding separates them dynamically. In MemoryPro, the reference network stores an angle in a persistent ring-like representation. The alternative preserves the remembered angle while activity rotates. Stress that the information is not lost; it is encoded more dynamically.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carefully. Do not claim that INSD is universally better. Standard RNNs often win near the training distribution. The important result is that alternatives have different robustness profiles: alt-2 helps in high-noise integration and flip-flop conditions, while alt-1 helps on the hardest MemoryPro trials. This supports the claim that the mechanisms are functionally distinct. End with the caveat: different does not automatically mean more biological. The value is expanding the hypothesis space for later comparison with neural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50C16"/>
        </a:solidFill>
        <a:effectLst/>
      </p:bgPr>
    </p:bg>
    <p:spTree>
      <p:nvGrpSpPr>
        <p:cNvPr id="1" name=""/>
        <p:cNvGrpSpPr/>
        <p:nvPr/>
      </p:nvGrpSpPr>
      <p:grpSpPr>
        <a:xfrm>
          <a:off x="0" y="0"/>
          <a:ext cx="0" cy="0"/>
          <a:chOff x="0" y="0"/>
          <a:chExt cx="0" cy="0"/>
        </a:xfrm>
      </p:grpSpPr>
      <p:sp>
        <p:nvSpPr>
          <p:cNvPr id="2" name="Shape 0"/>
          <p:cNvSpPr/>
          <p:nvPr/>
        </p:nvSpPr>
        <p:spPr>
          <a:xfrm>
            <a:off x="457200" y="6528816"/>
            <a:ext cx="11274552" cy="0"/>
          </a:xfrm>
          <a:prstGeom prst="line">
            <a:avLst/>
          </a:prstGeom>
          <a:noFill/>
          <a:ln w="8890">
            <a:solidFill>
              <a:srgbClr val="193049"/>
            </a:solidFill>
            <a:prstDash val="solid"/>
          </a:ln>
        </p:spPr>
        <p:txBody>
          <a:bodyPr/>
          <a:lstStyle/>
          <a:p>
            <a:endParaRPr lang="en-US"/>
          </a:p>
        </p:txBody>
      </p:sp>
      <p:sp>
        <p:nvSpPr>
          <p:cNvPr id="3" name="Text 1"/>
          <p:cNvSpPr/>
          <p:nvPr/>
        </p:nvSpPr>
        <p:spPr>
          <a:xfrm>
            <a:off x="475488" y="6601968"/>
            <a:ext cx="2560320" cy="146304"/>
          </a:xfrm>
          <a:prstGeom prst="rect">
            <a:avLst/>
          </a:prstGeom>
          <a:noFill/>
          <a:ln/>
        </p:spPr>
        <p:txBody>
          <a:bodyPr wrap="square" lIns="0" tIns="0" rIns="0" bIns="0" rtlCol="0" anchor="ctr"/>
          <a:lstStyle/>
          <a:p>
            <a:pPr marL="0" indent="0">
              <a:buNone/>
            </a:pPr>
            <a:r>
              <a:rPr lang="en-US" sz="750" dirty="0">
                <a:solidFill>
                  <a:srgbClr val="6E7F90"/>
                </a:solidFill>
                <a:latin typeface="Noto Sans" pitchFamily="34" charset="0"/>
                <a:ea typeface="Noto Sans" pitchFamily="34" charset="-122"/>
                <a:cs typeface="Noto Sans" pitchFamily="34" charset="-120"/>
              </a:rPr>
              <a:t>Qian &amp; Pehlevan | ICLR 2026</a:t>
            </a:r>
            <a:endParaRPr lang="en-US" sz="750" dirty="0"/>
          </a:p>
        </p:txBody>
      </p:sp>
      <p:sp>
        <p:nvSpPr>
          <p:cNvPr id="25"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C16"/>
        </a:solidFill>
        <a:effectLst/>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4CCFD1">
              <a:alpha val="78000"/>
            </a:srgbClr>
          </a:solidFill>
          <a:ln w="12700">
            <a:solidFill>
              <a:srgbClr val="4CCFD1">
                <a:alpha val="0"/>
              </a:srgbClr>
            </a:solidFill>
            <a:prstDash val="solid"/>
          </a:ln>
        </p:spPr>
        <p:txBody>
          <a:bodyPr/>
          <a:lstStyle/>
          <a:p>
            <a:endParaRPr lang="en-US"/>
          </a:p>
        </p:txBody>
      </p:sp>
      <p:sp>
        <p:nvSpPr>
          <p:cNvPr id="9" name="Shape 7"/>
          <p:cNvSpPr/>
          <p:nvPr/>
        </p:nvSpPr>
        <p:spPr>
          <a:xfrm>
            <a:off x="6673516" y="696548"/>
            <a:ext cx="0" cy="5431536"/>
          </a:xfrm>
          <a:prstGeom prst="line">
            <a:avLst/>
          </a:prstGeom>
          <a:noFill/>
          <a:ln w="11430">
            <a:solidFill>
              <a:srgbClr val="2B435C"/>
            </a:solidFill>
            <a:prstDash val="solid"/>
            <a:tailEnd type="none"/>
          </a:ln>
        </p:spPr>
        <p:txBody>
          <a:bodyPr/>
          <a:lstStyle/>
          <a:p>
            <a:endParaRPr lang="en-US"/>
          </a:p>
        </p:txBody>
      </p:sp>
      <p:sp>
        <p:nvSpPr>
          <p:cNvPr id="16" name="Shape 13"/>
          <p:cNvSpPr/>
          <p:nvPr/>
        </p:nvSpPr>
        <p:spPr>
          <a:xfrm>
            <a:off x="457200" y="6528816"/>
            <a:ext cx="11274552" cy="0"/>
          </a:xfrm>
          <a:prstGeom prst="line">
            <a:avLst/>
          </a:prstGeom>
          <a:noFill/>
          <a:ln w="8890">
            <a:solidFill>
              <a:srgbClr val="193049"/>
            </a:solidFill>
            <a:prstDash val="solid"/>
          </a:ln>
        </p:spPr>
        <p:txBody>
          <a:bodyPr/>
          <a:lstStyle/>
          <a:p>
            <a:endParaRPr lang="en-US"/>
          </a:p>
        </p:txBody>
      </p:sp>
      <p:sp>
        <p:nvSpPr>
          <p:cNvPr id="17" name="Text 14"/>
          <p:cNvSpPr/>
          <p:nvPr/>
        </p:nvSpPr>
        <p:spPr>
          <a:xfrm>
            <a:off x="475488" y="6601968"/>
            <a:ext cx="2560320" cy="146304"/>
          </a:xfrm>
          <a:prstGeom prst="rect">
            <a:avLst/>
          </a:prstGeom>
          <a:noFill/>
          <a:ln/>
        </p:spPr>
        <p:txBody>
          <a:bodyPr wrap="square" lIns="0" tIns="0" rIns="0" bIns="0" rtlCol="0" anchor="ctr"/>
          <a:lstStyle/>
          <a:p>
            <a:pPr marL="0" indent="0">
              <a:buNone/>
            </a:pPr>
            <a:r>
              <a:rPr lang="en-US" sz="750" dirty="0">
                <a:solidFill>
                  <a:srgbClr val="7E90A4"/>
                </a:solidFill>
                <a:latin typeface="Noto Sans" pitchFamily="34" charset="0"/>
                <a:ea typeface="Noto Sans" pitchFamily="34" charset="-122"/>
                <a:cs typeface="Noto Sans" pitchFamily="34" charset="-120"/>
              </a:rPr>
              <a:t>Qian &amp; Pehlevan | ICLR 2026</a:t>
            </a:r>
            <a:endParaRPr lang="en-US" sz="750" dirty="0"/>
          </a:p>
        </p:txBody>
      </p:sp>
      <p:sp>
        <p:nvSpPr>
          <p:cNvPr id="25"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t>1</a:t>
            </a:fld>
            <a:endParaRPr lang="en-US"/>
          </a:p>
        </p:txBody>
      </p:sp>
      <p:pic>
        <p:nvPicPr>
          <p:cNvPr id="21" name="Picture 20">
            <a:extLst>
              <a:ext uri="{FF2B5EF4-FFF2-40B4-BE49-F238E27FC236}">
                <a16:creationId xmlns:a16="http://schemas.microsoft.com/office/drawing/2014/main" id="{AF1B5754-F5D2-4DC2-44A3-043E0138E29F}"/>
              </a:ext>
            </a:extLst>
          </p:cNvPr>
          <p:cNvPicPr>
            <a:picLocks noChangeAspect="1"/>
          </p:cNvPicPr>
          <p:nvPr/>
        </p:nvPicPr>
        <p:blipFill>
          <a:blip r:embed="rId3"/>
          <a:stretch>
            <a:fillRect/>
          </a:stretch>
        </p:blipFill>
        <p:spPr>
          <a:xfrm>
            <a:off x="270062" y="-1"/>
            <a:ext cx="11766192" cy="64556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C16"/>
        </a:solidFill>
        <a:effectLst/>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4CCFD1">
              <a:alpha val="78000"/>
            </a:srgbClr>
          </a:solidFill>
          <a:ln w="12700">
            <a:solidFill>
              <a:srgbClr val="4CCFD1">
                <a:alpha val="0"/>
              </a:srgbClr>
            </a:solidFill>
            <a:prstDash val="solid"/>
          </a:ln>
        </p:spPr>
        <p:txBody>
          <a:bodyPr/>
          <a:lstStyle/>
          <a:p>
            <a:endParaRPr lang="en-US"/>
          </a:p>
        </p:txBody>
      </p:sp>
      <p:sp>
        <p:nvSpPr>
          <p:cNvPr id="3" name="Text 1"/>
          <p:cNvSpPr/>
          <p:nvPr/>
        </p:nvSpPr>
        <p:spPr>
          <a:xfrm>
            <a:off x="566928" y="365760"/>
            <a:ext cx="2743200" cy="201168"/>
          </a:xfrm>
          <a:prstGeom prst="rect">
            <a:avLst/>
          </a:prstGeom>
          <a:noFill/>
          <a:ln/>
        </p:spPr>
        <p:txBody>
          <a:bodyPr wrap="square" lIns="0" tIns="0" rIns="0" bIns="0" rtlCol="0" anchor="ctr"/>
          <a:lstStyle/>
          <a:p>
            <a:pPr marL="0" indent="0">
              <a:buNone/>
            </a:pPr>
            <a:r>
              <a:rPr lang="en-US" sz="950" b="1" kern="0" spc="120" dirty="0">
                <a:solidFill>
                  <a:srgbClr val="4CCFD1"/>
                </a:solidFill>
                <a:latin typeface="Noto Sans" pitchFamily="34" charset="0"/>
                <a:ea typeface="Noto Sans" pitchFamily="34" charset="-122"/>
                <a:cs typeface="Noto Sans" pitchFamily="34" charset="-120"/>
              </a:rPr>
              <a:t>01 | PROBLEM</a:t>
            </a:r>
            <a:endParaRPr lang="en-US" sz="950" dirty="0"/>
          </a:p>
        </p:txBody>
      </p:sp>
      <p:sp>
        <p:nvSpPr>
          <p:cNvPr id="4" name="Text 2"/>
          <p:cNvSpPr/>
          <p:nvPr/>
        </p:nvSpPr>
        <p:spPr>
          <a:xfrm>
            <a:off x="566928" y="713232"/>
            <a:ext cx="11064240" cy="475488"/>
          </a:xfrm>
          <a:prstGeom prst="rect">
            <a:avLst/>
          </a:prstGeom>
          <a:noFill/>
          <a:ln/>
        </p:spPr>
        <p:txBody>
          <a:bodyPr wrap="square" lIns="0" tIns="0" rIns="0" bIns="0" rtlCol="0" anchor="ctr">
            <a:normAutofit/>
          </a:bodyPr>
          <a:lstStyle/>
          <a:p>
            <a:pPr marL="0" indent="0">
              <a:buNone/>
            </a:pPr>
            <a:r>
              <a:rPr lang="en-US" sz="2400" b="1" u="sng" dirty="0">
                <a:solidFill>
                  <a:srgbClr val="F5F8FB"/>
                </a:solidFill>
                <a:latin typeface="Noto Sans Display" pitchFamily="34" charset="0"/>
                <a:ea typeface="Noto Sans Display" pitchFamily="34" charset="-122"/>
                <a:cs typeface="Noto Sans Display" pitchFamily="34" charset="-120"/>
              </a:rPr>
              <a:t>Why simplicity bias is a neuroscience problem?</a:t>
            </a:r>
            <a:endParaRPr lang="en-US" sz="2400" u="sng" dirty="0"/>
          </a:p>
        </p:txBody>
      </p:sp>
      <p:sp>
        <p:nvSpPr>
          <p:cNvPr id="5" name="Text 3"/>
          <p:cNvSpPr/>
          <p:nvPr/>
        </p:nvSpPr>
        <p:spPr>
          <a:xfrm>
            <a:off x="501957" y="1449323"/>
            <a:ext cx="5616342" cy="1636777"/>
          </a:xfrm>
          <a:prstGeom prst="rect">
            <a:avLst/>
          </a:prstGeom>
          <a:noFill/>
          <a:ln/>
        </p:spPr>
        <p:txBody>
          <a:bodyPr wrap="square" lIns="0" tIns="0" rIns="0" bIns="0" rtlCol="0" anchor="t">
            <a:normAutofit/>
          </a:bodyPr>
          <a:lstStyle/>
          <a:p>
            <a:r>
              <a:rPr lang="en-US" b="1" dirty="0">
                <a:solidFill>
                  <a:schemeClr val="bg1"/>
                </a:solidFill>
              </a:rPr>
              <a:t>Task-trained RNNs are useful if they yield multiple plausible mechanistic</a:t>
            </a:r>
            <a:r>
              <a:rPr lang="fa-IR" b="1" dirty="0">
                <a:solidFill>
                  <a:schemeClr val="bg1"/>
                </a:solidFill>
              </a:rPr>
              <a:t> </a:t>
            </a:r>
            <a:r>
              <a:rPr lang="en-US" b="1" dirty="0">
                <a:solidFill>
                  <a:schemeClr val="bg1"/>
                </a:solidFill>
              </a:rPr>
              <a:t>hypotheses.</a:t>
            </a:r>
            <a:endParaRPr lang="en-US" dirty="0">
              <a:solidFill>
                <a:schemeClr val="bg1"/>
              </a:solidFill>
            </a:endParaRPr>
          </a:p>
        </p:txBody>
      </p:sp>
      <p:sp>
        <p:nvSpPr>
          <p:cNvPr id="6" name="Text 4"/>
          <p:cNvSpPr/>
          <p:nvPr/>
        </p:nvSpPr>
        <p:spPr>
          <a:xfrm>
            <a:off x="429767" y="2267710"/>
            <a:ext cx="5826654" cy="1741931"/>
          </a:xfrm>
          <a:prstGeom prst="rect">
            <a:avLst/>
          </a:prstGeom>
          <a:noFill/>
          <a:ln/>
        </p:spPr>
        <p:txBody>
          <a:bodyPr wrap="square" lIns="0" tIns="0" rIns="0" bIns="0" rtlCol="0" anchor="t">
            <a:noAutofit/>
          </a:bodyPr>
          <a:lstStyle/>
          <a:p>
            <a:pPr marL="285750" indent="-285750">
              <a:buSzPct val="100000"/>
              <a:buFont typeface="Wingdings" panose="05000000000000000000" pitchFamily="2" charset="2"/>
              <a:buChar char="Ø"/>
            </a:pPr>
            <a:endParaRPr lang="fa-IR" sz="1600" dirty="0">
              <a:solidFill>
                <a:schemeClr val="bg1"/>
              </a:solidFill>
              <a:latin typeface="+mj-lt"/>
              <a:ea typeface="Noto Sans" pitchFamily="34" charset="-122"/>
            </a:endParaRPr>
          </a:p>
          <a:p>
            <a:pPr marL="285750" lvl="0" indent="-285750">
              <a:buFont typeface="Wingdings" panose="05000000000000000000" pitchFamily="2" charset="2"/>
              <a:buChar char="Ø"/>
            </a:pPr>
            <a:r>
              <a:rPr lang="en-US" sz="1600" b="1" dirty="0">
                <a:solidFill>
                  <a:schemeClr val="bg1"/>
                </a:solidFill>
                <a:latin typeface="+mj-lt"/>
              </a:rPr>
              <a:t>Standard training favors simple, low-dimensional dynamics</a:t>
            </a:r>
            <a:r>
              <a:rPr lang="fa-IR" sz="1600" b="1" dirty="0">
                <a:solidFill>
                  <a:schemeClr val="bg1"/>
                </a:solidFill>
                <a:latin typeface="+mj-lt"/>
              </a:rPr>
              <a:t>.</a:t>
            </a:r>
          </a:p>
          <a:p>
            <a:pPr lvl="0"/>
            <a:r>
              <a:rPr lang="en-US" sz="1600" b="1" dirty="0">
                <a:solidFill>
                  <a:schemeClr val="bg1"/>
                </a:solidFill>
                <a:latin typeface="+mj-lt"/>
              </a:rPr>
              <a:t> </a:t>
            </a:r>
          </a:p>
          <a:p>
            <a:pPr marL="285750" lvl="0" indent="-285750">
              <a:buFont typeface="Wingdings" panose="05000000000000000000" pitchFamily="2" charset="2"/>
              <a:buChar char="Ø"/>
            </a:pPr>
            <a:r>
              <a:rPr lang="en-US" sz="1600" b="1" dirty="0">
                <a:solidFill>
                  <a:schemeClr val="bg1"/>
                </a:solidFill>
                <a:latin typeface="+mj-lt"/>
              </a:rPr>
              <a:t>Different seeds or gains can converge to the same dynamical motif. </a:t>
            </a:r>
            <a:endParaRPr lang="fa-IR" sz="1600" b="1" dirty="0">
              <a:solidFill>
                <a:schemeClr val="bg1"/>
              </a:solidFill>
              <a:latin typeface="+mj-lt"/>
            </a:endParaRPr>
          </a:p>
          <a:p>
            <a:pPr lvl="0"/>
            <a:endParaRPr lang="en-US" sz="1600" b="1" dirty="0">
              <a:solidFill>
                <a:schemeClr val="bg1"/>
              </a:solidFill>
              <a:latin typeface="+mj-lt"/>
            </a:endParaRPr>
          </a:p>
          <a:p>
            <a:pPr marL="285750" lvl="0" indent="-285750">
              <a:buFont typeface="Wingdings" panose="05000000000000000000" pitchFamily="2" charset="2"/>
              <a:buChar char="Ø"/>
            </a:pPr>
            <a:r>
              <a:rPr lang="en-US" sz="1600" b="1" dirty="0">
                <a:solidFill>
                  <a:schemeClr val="bg1"/>
                </a:solidFill>
                <a:latin typeface="+mj-lt"/>
              </a:rPr>
              <a:t>This creates dynamic collapse: many models, one mechanism.</a:t>
            </a:r>
          </a:p>
        </p:txBody>
      </p:sp>
      <p:sp>
        <p:nvSpPr>
          <p:cNvPr id="7" name="Shape 5"/>
          <p:cNvSpPr/>
          <p:nvPr/>
        </p:nvSpPr>
        <p:spPr>
          <a:xfrm>
            <a:off x="658368" y="4571999"/>
            <a:ext cx="5437632" cy="836669"/>
          </a:xfrm>
          <a:prstGeom prst="rect">
            <a:avLst/>
          </a:prstGeom>
          <a:solidFill>
            <a:srgbClr val="071321"/>
          </a:solidFill>
          <a:ln w="10160">
            <a:solidFill>
              <a:srgbClr val="193049"/>
            </a:solidFill>
            <a:prstDash val="solid"/>
          </a:ln>
        </p:spPr>
        <p:txBody>
          <a:bodyPr/>
          <a:lstStyle/>
          <a:p>
            <a:endParaRPr lang="en-US"/>
          </a:p>
        </p:txBody>
      </p:sp>
      <p:sp>
        <p:nvSpPr>
          <p:cNvPr id="8" name="Text 6"/>
          <p:cNvSpPr/>
          <p:nvPr/>
        </p:nvSpPr>
        <p:spPr>
          <a:xfrm>
            <a:off x="886968" y="4716379"/>
            <a:ext cx="5114544" cy="609999"/>
          </a:xfrm>
          <a:prstGeom prst="rect">
            <a:avLst/>
          </a:prstGeom>
          <a:noFill/>
          <a:ln/>
        </p:spPr>
        <p:txBody>
          <a:bodyPr wrap="square" lIns="0" tIns="0" rIns="0" bIns="0" rtlCol="0" anchor="t">
            <a:normAutofit/>
          </a:bodyPr>
          <a:lstStyle/>
          <a:p>
            <a:pPr algn="ctr"/>
            <a:r>
              <a:rPr lang="en-US" sz="1600" dirty="0">
                <a:solidFill>
                  <a:schemeClr val="bg1"/>
                </a:solidFill>
                <a:latin typeface="+mj-lt"/>
              </a:rPr>
              <a:t>Core failure mode: </a:t>
            </a:r>
          </a:p>
          <a:p>
            <a:pPr algn="ctr"/>
            <a:r>
              <a:rPr lang="en-US" sz="1600" dirty="0">
                <a:solidFill>
                  <a:schemeClr val="bg1"/>
                </a:solidFill>
                <a:latin typeface="+mj-lt"/>
              </a:rPr>
              <a:t>parameter diversity does not imply mechanism diversity.</a:t>
            </a:r>
          </a:p>
        </p:txBody>
      </p:sp>
      <p:sp>
        <p:nvSpPr>
          <p:cNvPr id="25" name="Shape 23"/>
          <p:cNvSpPr/>
          <p:nvPr/>
        </p:nvSpPr>
        <p:spPr>
          <a:xfrm>
            <a:off x="457200" y="6528816"/>
            <a:ext cx="11274552" cy="0"/>
          </a:xfrm>
          <a:prstGeom prst="line">
            <a:avLst/>
          </a:prstGeom>
          <a:noFill/>
          <a:ln w="8890">
            <a:solidFill>
              <a:srgbClr val="193049"/>
            </a:solidFill>
            <a:prstDash val="solid"/>
          </a:ln>
        </p:spPr>
        <p:txBody>
          <a:bodyPr/>
          <a:lstStyle/>
          <a:p>
            <a:endParaRPr lang="en-US"/>
          </a:p>
        </p:txBody>
      </p:sp>
      <p:sp>
        <p:nvSpPr>
          <p:cNvPr id="26" name="Text 24"/>
          <p:cNvSpPr/>
          <p:nvPr/>
        </p:nvSpPr>
        <p:spPr>
          <a:xfrm>
            <a:off x="475488" y="6601968"/>
            <a:ext cx="2560320" cy="146304"/>
          </a:xfrm>
          <a:prstGeom prst="rect">
            <a:avLst/>
          </a:prstGeom>
          <a:noFill/>
          <a:ln/>
        </p:spPr>
        <p:txBody>
          <a:bodyPr wrap="square" lIns="0" tIns="0" rIns="0" bIns="0" rtlCol="0" anchor="ctr"/>
          <a:lstStyle/>
          <a:p>
            <a:pPr marL="0" indent="0">
              <a:buNone/>
            </a:pPr>
            <a:r>
              <a:rPr lang="en-US" sz="750" dirty="0">
                <a:solidFill>
                  <a:srgbClr val="7E90A4"/>
                </a:solidFill>
                <a:latin typeface="Noto Sans" pitchFamily="34" charset="0"/>
                <a:ea typeface="Noto Sans" pitchFamily="34" charset="-122"/>
                <a:cs typeface="Noto Sans" pitchFamily="34" charset="-120"/>
              </a:rPr>
              <a:t>Qian &amp; Pehlevan | ICLR 2026</a:t>
            </a:r>
            <a:endParaRPr lang="en-US" sz="750" dirty="0"/>
          </a:p>
        </p:txBody>
      </p:sp>
      <p:sp>
        <p:nvSpPr>
          <p:cNvPr id="27"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t>2</a:t>
            </a:fld>
            <a:endParaRPr lang="en-US"/>
          </a:p>
        </p:txBody>
      </p:sp>
      <p:pic>
        <p:nvPicPr>
          <p:cNvPr id="13" name="Picture 12">
            <a:extLst>
              <a:ext uri="{FF2B5EF4-FFF2-40B4-BE49-F238E27FC236}">
                <a16:creationId xmlns:a16="http://schemas.microsoft.com/office/drawing/2014/main" id="{941BB964-6C48-7AE3-4A3B-7BF120BB8CB7}"/>
              </a:ext>
            </a:extLst>
          </p:cNvPr>
          <p:cNvPicPr>
            <a:picLocks noChangeAspect="1"/>
          </p:cNvPicPr>
          <p:nvPr/>
        </p:nvPicPr>
        <p:blipFill>
          <a:blip r:embed="rId3"/>
          <a:srcRect r="9903"/>
          <a:stretch>
            <a:fillRect/>
          </a:stretch>
        </p:blipFill>
        <p:spPr>
          <a:xfrm>
            <a:off x="6346899" y="1484182"/>
            <a:ext cx="5706979" cy="44474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C16"/>
        </a:solidFill>
        <a:effectLst/>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4CCFD1">
              <a:alpha val="78000"/>
            </a:srgbClr>
          </a:solidFill>
          <a:ln w="12700">
            <a:solidFill>
              <a:srgbClr val="4CCFD1">
                <a:alpha val="0"/>
              </a:srgbClr>
            </a:solidFill>
            <a:prstDash val="solid"/>
          </a:ln>
        </p:spPr>
        <p:txBody>
          <a:bodyPr/>
          <a:lstStyle/>
          <a:p>
            <a:endParaRPr lang="en-US">
              <a:cs typeface="+mj-cs"/>
            </a:endParaRPr>
          </a:p>
        </p:txBody>
      </p:sp>
      <p:sp>
        <p:nvSpPr>
          <p:cNvPr id="4" name="Text 2"/>
          <p:cNvSpPr/>
          <p:nvPr/>
        </p:nvSpPr>
        <p:spPr>
          <a:xfrm>
            <a:off x="566928" y="713232"/>
            <a:ext cx="11064240" cy="475488"/>
          </a:xfrm>
          <a:prstGeom prst="rect">
            <a:avLst/>
          </a:prstGeom>
          <a:noFill/>
          <a:ln/>
        </p:spPr>
        <p:txBody>
          <a:bodyPr wrap="square" lIns="0" tIns="0" rIns="0" bIns="0" rtlCol="0" anchor="ctr">
            <a:normAutofit/>
          </a:bodyPr>
          <a:lstStyle/>
          <a:p>
            <a:pPr marL="0" indent="0">
              <a:buNone/>
            </a:pPr>
            <a:r>
              <a:rPr lang="en-US" sz="2200" b="1" u="sng" dirty="0">
                <a:solidFill>
                  <a:srgbClr val="F5F8FB"/>
                </a:solidFill>
                <a:latin typeface="Noto Sans Display" pitchFamily="34" charset="0"/>
                <a:ea typeface="Noto Sans Display" pitchFamily="34" charset="-122"/>
                <a:cs typeface="+mj-cs"/>
              </a:rPr>
              <a:t>What counts as a genuinely different solution?</a:t>
            </a:r>
            <a:endParaRPr lang="en-US" sz="2200" u="sng" dirty="0">
              <a:cs typeface="+mj-cs"/>
            </a:endParaRPr>
          </a:p>
        </p:txBody>
      </p:sp>
      <p:grpSp>
        <p:nvGrpSpPr>
          <p:cNvPr id="40" name="Group 39">
            <a:extLst>
              <a:ext uri="{FF2B5EF4-FFF2-40B4-BE49-F238E27FC236}">
                <a16:creationId xmlns:a16="http://schemas.microsoft.com/office/drawing/2014/main" id="{63A7E089-0AC0-E1C2-CEC7-A3AC36BB4803}"/>
              </a:ext>
            </a:extLst>
          </p:cNvPr>
          <p:cNvGrpSpPr/>
          <p:nvPr/>
        </p:nvGrpSpPr>
        <p:grpSpPr>
          <a:xfrm>
            <a:off x="566928" y="365760"/>
            <a:ext cx="5824728" cy="1436731"/>
            <a:chOff x="566928" y="365760"/>
            <a:chExt cx="6089744" cy="1436731"/>
          </a:xfrm>
        </p:grpSpPr>
        <p:sp>
          <p:nvSpPr>
            <p:cNvPr id="3" name="Text 1"/>
            <p:cNvSpPr/>
            <p:nvPr/>
          </p:nvSpPr>
          <p:spPr>
            <a:xfrm>
              <a:off x="566928" y="365760"/>
              <a:ext cx="2743200" cy="201168"/>
            </a:xfrm>
            <a:prstGeom prst="rect">
              <a:avLst/>
            </a:prstGeom>
            <a:noFill/>
            <a:ln/>
          </p:spPr>
          <p:txBody>
            <a:bodyPr wrap="square" lIns="0" tIns="0" rIns="0" bIns="0" rtlCol="0" anchor="ctr"/>
            <a:lstStyle/>
            <a:p>
              <a:pPr marL="0" indent="0">
                <a:buNone/>
              </a:pPr>
              <a:r>
                <a:rPr lang="en-US" sz="950" b="1" kern="0" spc="120" dirty="0">
                  <a:solidFill>
                    <a:srgbClr val="4CCFD1"/>
                  </a:solidFill>
                  <a:latin typeface="Noto Sans" pitchFamily="34" charset="0"/>
                  <a:ea typeface="Noto Sans" pitchFamily="34" charset="-122"/>
                  <a:cs typeface="+mj-cs"/>
                </a:rPr>
                <a:t>02 | DESIGN CRITERIA</a:t>
              </a:r>
              <a:endParaRPr lang="en-US" sz="950" dirty="0">
                <a:cs typeface="+mj-cs"/>
              </a:endParaRPr>
            </a:p>
          </p:txBody>
        </p:sp>
        <p:sp>
          <p:nvSpPr>
            <p:cNvPr id="5" name="Text 3"/>
            <p:cNvSpPr/>
            <p:nvPr/>
          </p:nvSpPr>
          <p:spPr>
            <a:xfrm>
              <a:off x="566928" y="1299571"/>
              <a:ext cx="6089744" cy="502920"/>
            </a:xfrm>
            <a:prstGeom prst="rect">
              <a:avLst/>
            </a:prstGeom>
            <a:noFill/>
            <a:ln/>
          </p:spPr>
          <p:txBody>
            <a:bodyPr wrap="square" lIns="0" tIns="0" rIns="0" bIns="0" rtlCol="0" anchor="t">
              <a:normAutofit/>
            </a:bodyPr>
            <a:lstStyle/>
            <a:p>
              <a:r>
                <a:rPr lang="en-US" sz="1400" b="1" dirty="0">
                  <a:solidFill>
                    <a:schemeClr val="bg1"/>
                  </a:solidFill>
                  <a:cs typeface="+mj-cs"/>
                </a:rPr>
                <a:t>A valid alternative must preserve task performance while changing the underlying computation.</a:t>
              </a:r>
              <a:endParaRPr lang="en-US" sz="1600" b="1" dirty="0">
                <a:solidFill>
                  <a:schemeClr val="bg1"/>
                </a:solidFill>
                <a:cs typeface="+mj-cs"/>
              </a:endParaRPr>
            </a:p>
          </p:txBody>
        </p:sp>
      </p:grpSp>
      <p:sp>
        <p:nvSpPr>
          <p:cNvPr id="12" name="Text 10"/>
          <p:cNvSpPr/>
          <p:nvPr/>
        </p:nvSpPr>
        <p:spPr>
          <a:xfrm>
            <a:off x="1165780" y="3531963"/>
            <a:ext cx="5225876" cy="678239"/>
          </a:xfrm>
          <a:prstGeom prst="rect">
            <a:avLst/>
          </a:prstGeom>
          <a:noFill/>
          <a:ln/>
        </p:spPr>
        <p:txBody>
          <a:bodyPr wrap="square" lIns="0" tIns="0" rIns="0" bIns="0" rtlCol="0" anchor="t">
            <a:normAutofit/>
          </a:bodyPr>
          <a:lstStyle/>
          <a:p>
            <a:pPr lvl="0"/>
            <a:r>
              <a:rPr lang="en-US" sz="1400" dirty="0">
                <a:solidFill>
                  <a:schemeClr val="bg1"/>
                </a:solidFill>
                <a:cs typeface="+mj-cs"/>
              </a:rPr>
              <a:t>Relabeling neurons or rotating the basis is not a new mechanism. </a:t>
            </a:r>
          </a:p>
        </p:txBody>
      </p:sp>
      <p:sp>
        <p:nvSpPr>
          <p:cNvPr id="29" name="Shape 27"/>
          <p:cNvSpPr/>
          <p:nvPr/>
        </p:nvSpPr>
        <p:spPr>
          <a:xfrm>
            <a:off x="457200" y="6528816"/>
            <a:ext cx="11274552" cy="0"/>
          </a:xfrm>
          <a:prstGeom prst="line">
            <a:avLst/>
          </a:prstGeom>
          <a:noFill/>
          <a:ln w="8890">
            <a:solidFill>
              <a:srgbClr val="193049"/>
            </a:solidFill>
            <a:prstDash val="solid"/>
          </a:ln>
        </p:spPr>
        <p:txBody>
          <a:bodyPr/>
          <a:lstStyle/>
          <a:p>
            <a:endParaRPr lang="en-US">
              <a:cs typeface="+mj-cs"/>
            </a:endParaRPr>
          </a:p>
        </p:txBody>
      </p:sp>
      <p:sp>
        <p:nvSpPr>
          <p:cNvPr id="30" name="Text 28"/>
          <p:cNvSpPr/>
          <p:nvPr/>
        </p:nvSpPr>
        <p:spPr>
          <a:xfrm>
            <a:off x="475488" y="6601968"/>
            <a:ext cx="2560320" cy="146304"/>
          </a:xfrm>
          <a:prstGeom prst="rect">
            <a:avLst/>
          </a:prstGeom>
          <a:noFill/>
          <a:ln/>
        </p:spPr>
        <p:txBody>
          <a:bodyPr wrap="square" lIns="0" tIns="0" rIns="0" bIns="0" rtlCol="0" anchor="ctr"/>
          <a:lstStyle/>
          <a:p>
            <a:pPr marL="0" indent="0">
              <a:buNone/>
            </a:pPr>
            <a:r>
              <a:rPr lang="en-US" sz="750" dirty="0">
                <a:solidFill>
                  <a:srgbClr val="7E90A4"/>
                </a:solidFill>
                <a:latin typeface="Noto Sans" pitchFamily="34" charset="0"/>
                <a:ea typeface="Noto Sans" pitchFamily="34" charset="-122"/>
                <a:cs typeface="+mj-cs"/>
              </a:rPr>
              <a:t>Qian &amp; Pehlevan | ICLR 2026</a:t>
            </a:r>
            <a:endParaRPr lang="en-US" sz="750" dirty="0">
              <a:cs typeface="+mj-cs"/>
            </a:endParaRPr>
          </a:p>
        </p:txBody>
      </p:sp>
      <p:sp>
        <p:nvSpPr>
          <p:cNvPr id="31"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cs typeface="+mj-cs"/>
              </a:rPr>
              <a:t>3</a:t>
            </a:fld>
            <a:endParaRPr lang="en-US">
              <a:cs typeface="+mj-cs"/>
            </a:endParaRPr>
          </a:p>
        </p:txBody>
      </p:sp>
      <p:grpSp>
        <p:nvGrpSpPr>
          <p:cNvPr id="38" name="Group 37">
            <a:extLst>
              <a:ext uri="{FF2B5EF4-FFF2-40B4-BE49-F238E27FC236}">
                <a16:creationId xmlns:a16="http://schemas.microsoft.com/office/drawing/2014/main" id="{AB055EAC-6C71-C14C-A3F2-5E3531815D50}"/>
              </a:ext>
            </a:extLst>
          </p:cNvPr>
          <p:cNvGrpSpPr/>
          <p:nvPr/>
        </p:nvGrpSpPr>
        <p:grpSpPr>
          <a:xfrm>
            <a:off x="603504" y="1965960"/>
            <a:ext cx="5595960" cy="3666743"/>
            <a:chOff x="713232" y="2039112"/>
            <a:chExt cx="5595960" cy="3163825"/>
          </a:xfrm>
        </p:grpSpPr>
        <p:sp>
          <p:nvSpPr>
            <p:cNvPr id="6" name="Text 4"/>
            <p:cNvSpPr/>
            <p:nvPr/>
          </p:nvSpPr>
          <p:spPr>
            <a:xfrm>
              <a:off x="713232" y="2066544"/>
              <a:ext cx="384048" cy="310896"/>
            </a:xfrm>
            <a:prstGeom prst="rect">
              <a:avLst/>
            </a:prstGeom>
            <a:noFill/>
            <a:ln/>
          </p:spPr>
          <p:txBody>
            <a:bodyPr wrap="square" lIns="0" tIns="0" rIns="0" bIns="0" rtlCol="0" anchor="t">
              <a:noAutofit/>
            </a:bodyPr>
            <a:lstStyle/>
            <a:p>
              <a:pPr marL="0" indent="0" algn="ctr">
                <a:buNone/>
              </a:pPr>
              <a:r>
                <a:rPr lang="en-US" sz="2000" b="1" dirty="0">
                  <a:solidFill>
                    <a:srgbClr val="4CCFD1"/>
                  </a:solidFill>
                  <a:latin typeface="Noto Sans Display" pitchFamily="34" charset="0"/>
                  <a:ea typeface="Noto Sans Display" pitchFamily="34" charset="-122"/>
                  <a:cs typeface="+mj-cs"/>
                </a:rPr>
                <a:t>01</a:t>
              </a:r>
              <a:endParaRPr lang="en-US" sz="2000" dirty="0">
                <a:cs typeface="+mj-cs"/>
              </a:endParaRPr>
            </a:p>
          </p:txBody>
        </p:sp>
        <p:sp>
          <p:nvSpPr>
            <p:cNvPr id="7" name="Text 5"/>
            <p:cNvSpPr/>
            <p:nvPr/>
          </p:nvSpPr>
          <p:spPr>
            <a:xfrm>
              <a:off x="1298448" y="2039112"/>
              <a:ext cx="2514600" cy="265176"/>
            </a:xfrm>
            <a:prstGeom prst="rect">
              <a:avLst/>
            </a:prstGeom>
            <a:noFill/>
            <a:ln/>
          </p:spPr>
          <p:txBody>
            <a:bodyPr wrap="square" lIns="0" tIns="0" rIns="0" bIns="0" rtlCol="0" anchor="t">
              <a:noAutofit/>
            </a:bodyPr>
            <a:lstStyle/>
            <a:p>
              <a:pPr marL="0" indent="0" algn="l">
                <a:buNone/>
              </a:pPr>
              <a:r>
                <a:rPr lang="en-US" b="1" u="sng" dirty="0">
                  <a:solidFill>
                    <a:srgbClr val="F5F8FB"/>
                  </a:solidFill>
                  <a:latin typeface="Noto Sans Display" pitchFamily="34" charset="0"/>
                  <a:ea typeface="Noto Sans Display" pitchFamily="34" charset="-122"/>
                  <a:cs typeface="+mj-cs"/>
                </a:rPr>
                <a:t>Preserve function</a:t>
              </a:r>
              <a:endParaRPr lang="en-US" u="sng" dirty="0">
                <a:cs typeface="+mj-cs"/>
              </a:endParaRPr>
            </a:p>
          </p:txBody>
        </p:sp>
        <p:sp>
          <p:nvSpPr>
            <p:cNvPr id="8" name="Text 6"/>
            <p:cNvSpPr/>
            <p:nvPr/>
          </p:nvSpPr>
          <p:spPr>
            <a:xfrm>
              <a:off x="1298448" y="2386584"/>
              <a:ext cx="4892040" cy="384048"/>
            </a:xfrm>
            <a:prstGeom prst="rect">
              <a:avLst/>
            </a:prstGeom>
            <a:noFill/>
            <a:ln/>
          </p:spPr>
          <p:txBody>
            <a:bodyPr wrap="square" lIns="0" tIns="0" rIns="0" bIns="0" rtlCol="0" anchor="t">
              <a:normAutofit/>
            </a:bodyPr>
            <a:lstStyle/>
            <a:p>
              <a:pPr lvl="0"/>
              <a:r>
                <a:rPr lang="en-US" sz="1600" dirty="0">
                  <a:solidFill>
                    <a:schemeClr val="bg1"/>
                  </a:solidFill>
                  <a:cs typeface="+mj-cs"/>
                </a:rPr>
                <a:t>Solve the same task equally well. </a:t>
              </a:r>
            </a:p>
          </p:txBody>
        </p:sp>
        <p:sp>
          <p:nvSpPr>
            <p:cNvPr id="9" name="Shape 7"/>
            <p:cNvSpPr/>
            <p:nvPr/>
          </p:nvSpPr>
          <p:spPr>
            <a:xfrm>
              <a:off x="1298448" y="2916936"/>
              <a:ext cx="4782312" cy="0"/>
            </a:xfrm>
            <a:prstGeom prst="line">
              <a:avLst/>
            </a:prstGeom>
            <a:noFill/>
            <a:ln w="10160">
              <a:solidFill>
                <a:srgbClr val="193049"/>
              </a:solidFill>
              <a:prstDash val="solid"/>
              <a:tailEnd type="none"/>
            </a:ln>
          </p:spPr>
          <p:txBody>
            <a:bodyPr/>
            <a:lstStyle/>
            <a:p>
              <a:endParaRPr lang="en-US" sz="2000">
                <a:cs typeface="+mj-cs"/>
              </a:endParaRPr>
            </a:p>
          </p:txBody>
        </p:sp>
        <p:sp>
          <p:nvSpPr>
            <p:cNvPr id="10" name="Text 8"/>
            <p:cNvSpPr/>
            <p:nvPr/>
          </p:nvSpPr>
          <p:spPr>
            <a:xfrm>
              <a:off x="713232" y="3033072"/>
              <a:ext cx="384048" cy="310896"/>
            </a:xfrm>
            <a:prstGeom prst="rect">
              <a:avLst/>
            </a:prstGeom>
            <a:noFill/>
            <a:ln/>
          </p:spPr>
          <p:txBody>
            <a:bodyPr wrap="square" lIns="0" tIns="0" rIns="0" bIns="0" rtlCol="0" anchor="t">
              <a:noAutofit/>
            </a:bodyPr>
            <a:lstStyle/>
            <a:p>
              <a:pPr marL="0" indent="0" algn="ctr">
                <a:buNone/>
              </a:pPr>
              <a:r>
                <a:rPr lang="en-US" sz="2000" b="1" dirty="0">
                  <a:solidFill>
                    <a:srgbClr val="4CCFD1"/>
                  </a:solidFill>
                  <a:latin typeface="Noto Sans Display" pitchFamily="34" charset="0"/>
                  <a:ea typeface="Noto Sans Display" pitchFamily="34" charset="-122"/>
                  <a:cs typeface="+mj-cs"/>
                </a:rPr>
                <a:t>02</a:t>
              </a:r>
              <a:endParaRPr lang="en-US" sz="2000" dirty="0">
                <a:cs typeface="+mj-cs"/>
              </a:endParaRPr>
            </a:p>
          </p:txBody>
        </p:sp>
        <p:sp>
          <p:nvSpPr>
            <p:cNvPr id="11" name="Text 9"/>
            <p:cNvSpPr/>
            <p:nvPr/>
          </p:nvSpPr>
          <p:spPr>
            <a:xfrm>
              <a:off x="1275508" y="3033072"/>
              <a:ext cx="4187953" cy="347472"/>
            </a:xfrm>
            <a:prstGeom prst="rect">
              <a:avLst/>
            </a:prstGeom>
            <a:noFill/>
            <a:ln/>
          </p:spPr>
          <p:txBody>
            <a:bodyPr wrap="square" lIns="0" tIns="0" rIns="0" bIns="0" rtlCol="0" anchor="t">
              <a:noAutofit/>
            </a:bodyPr>
            <a:lstStyle/>
            <a:p>
              <a:r>
                <a:rPr lang="en-US" b="1" u="sng" dirty="0">
                  <a:solidFill>
                    <a:schemeClr val="bg1"/>
                  </a:solidFill>
                  <a:latin typeface="+mj-lt"/>
                  <a:cs typeface="+mj-cs"/>
                </a:rPr>
                <a:t>Reject superficial differences</a:t>
              </a:r>
              <a:endParaRPr lang="en-US" u="sng" dirty="0">
                <a:solidFill>
                  <a:schemeClr val="bg1"/>
                </a:solidFill>
                <a:latin typeface="+mj-lt"/>
                <a:cs typeface="+mj-cs"/>
              </a:endParaRPr>
            </a:p>
          </p:txBody>
        </p:sp>
        <p:sp>
          <p:nvSpPr>
            <p:cNvPr id="13" name="Shape 11"/>
            <p:cNvSpPr/>
            <p:nvPr/>
          </p:nvSpPr>
          <p:spPr>
            <a:xfrm>
              <a:off x="1298448" y="4032504"/>
              <a:ext cx="4782312" cy="0"/>
            </a:xfrm>
            <a:prstGeom prst="line">
              <a:avLst/>
            </a:prstGeom>
            <a:noFill/>
            <a:ln w="10160">
              <a:solidFill>
                <a:srgbClr val="193049"/>
              </a:solidFill>
              <a:prstDash val="solid"/>
              <a:tailEnd type="none"/>
            </a:ln>
          </p:spPr>
          <p:txBody>
            <a:bodyPr/>
            <a:lstStyle/>
            <a:p>
              <a:endParaRPr lang="en-US" sz="2000">
                <a:cs typeface="+mj-cs"/>
              </a:endParaRPr>
            </a:p>
          </p:txBody>
        </p:sp>
        <p:sp>
          <p:nvSpPr>
            <p:cNvPr id="14" name="Text 12"/>
            <p:cNvSpPr/>
            <p:nvPr/>
          </p:nvSpPr>
          <p:spPr>
            <a:xfrm>
              <a:off x="713232" y="4297680"/>
              <a:ext cx="384048" cy="310896"/>
            </a:xfrm>
            <a:prstGeom prst="rect">
              <a:avLst/>
            </a:prstGeom>
            <a:noFill/>
            <a:ln/>
          </p:spPr>
          <p:txBody>
            <a:bodyPr wrap="square" lIns="0" tIns="0" rIns="0" bIns="0" rtlCol="0" anchor="t">
              <a:noAutofit/>
            </a:bodyPr>
            <a:lstStyle/>
            <a:p>
              <a:pPr marL="0" indent="0" algn="ctr">
                <a:buNone/>
              </a:pPr>
              <a:r>
                <a:rPr lang="en-US" sz="2000" b="1" dirty="0">
                  <a:solidFill>
                    <a:srgbClr val="4CCFD1"/>
                  </a:solidFill>
                  <a:latin typeface="Noto Sans Display" pitchFamily="34" charset="0"/>
                  <a:ea typeface="Noto Sans Display" pitchFamily="34" charset="-122"/>
                  <a:cs typeface="+mj-cs"/>
                </a:rPr>
                <a:t>03</a:t>
              </a:r>
              <a:endParaRPr lang="en-US" sz="2000" dirty="0">
                <a:cs typeface="+mj-cs"/>
              </a:endParaRPr>
            </a:p>
          </p:txBody>
        </p:sp>
        <p:sp>
          <p:nvSpPr>
            <p:cNvPr id="16" name="Text 14"/>
            <p:cNvSpPr/>
            <p:nvPr/>
          </p:nvSpPr>
          <p:spPr>
            <a:xfrm>
              <a:off x="1298448" y="4654297"/>
              <a:ext cx="5010744" cy="548640"/>
            </a:xfrm>
            <a:prstGeom prst="rect">
              <a:avLst/>
            </a:prstGeom>
            <a:noFill/>
            <a:ln/>
          </p:spPr>
          <p:txBody>
            <a:bodyPr wrap="square" lIns="0" tIns="0" rIns="0" bIns="0" rtlCol="0" anchor="t">
              <a:normAutofit/>
            </a:bodyPr>
            <a:lstStyle/>
            <a:p>
              <a:pPr marL="0" indent="0" algn="l">
                <a:buNone/>
              </a:pPr>
              <a:r>
                <a:rPr lang="en-US" sz="1600" dirty="0">
                  <a:solidFill>
                    <a:schemeClr val="bg1"/>
                  </a:solidFill>
                  <a:latin typeface="Noto Sans" pitchFamily="34" charset="0"/>
                  <a:ea typeface="Noto Sans" pitchFamily="34" charset="-122"/>
                  <a:cs typeface="+mj-cs"/>
                </a:rPr>
                <a:t>Irrelevant high-dimensional activity must not fake dissimilarity.</a:t>
              </a:r>
              <a:endParaRPr lang="fa-IR" sz="1600" dirty="0">
                <a:solidFill>
                  <a:schemeClr val="bg1"/>
                </a:solidFill>
                <a:latin typeface="Noto Sans" pitchFamily="34" charset="0"/>
                <a:ea typeface="Noto Sans" pitchFamily="34" charset="-122"/>
                <a:cs typeface="+mj-cs"/>
              </a:endParaRPr>
            </a:p>
            <a:p>
              <a:pPr marL="0" indent="0" algn="l">
                <a:buNone/>
              </a:pPr>
              <a:endParaRPr lang="en-US" dirty="0">
                <a:latin typeface="Noto Sans (Body)"/>
                <a:cs typeface="+mj-cs"/>
              </a:endParaRPr>
            </a:p>
          </p:txBody>
        </p:sp>
        <p:sp>
          <p:nvSpPr>
            <p:cNvPr id="37" name="Text 9">
              <a:extLst>
                <a:ext uri="{FF2B5EF4-FFF2-40B4-BE49-F238E27FC236}">
                  <a16:creationId xmlns:a16="http://schemas.microsoft.com/office/drawing/2014/main" id="{8BB7BAD0-E2F9-89E9-D4D7-DA5128B07189}"/>
                </a:ext>
              </a:extLst>
            </p:cNvPr>
            <p:cNvSpPr/>
            <p:nvPr/>
          </p:nvSpPr>
          <p:spPr>
            <a:xfrm>
              <a:off x="1330452" y="4274133"/>
              <a:ext cx="3456431" cy="347472"/>
            </a:xfrm>
            <a:prstGeom prst="rect">
              <a:avLst/>
            </a:prstGeom>
            <a:noFill/>
            <a:ln/>
          </p:spPr>
          <p:txBody>
            <a:bodyPr wrap="square" lIns="0" tIns="0" rIns="0" bIns="0" rtlCol="0" anchor="t">
              <a:noAutofit/>
            </a:bodyPr>
            <a:lstStyle/>
            <a:p>
              <a:r>
                <a:rPr lang="en-US" b="1" u="sng" dirty="0">
                  <a:solidFill>
                    <a:schemeClr val="bg1"/>
                  </a:solidFill>
                  <a:latin typeface="Noto Sans Display (Headings)"/>
                  <a:cs typeface="+mj-cs"/>
                </a:rPr>
                <a:t>Reject trivial dissimilarity</a:t>
              </a:r>
              <a:endParaRPr lang="en-US" u="sng" dirty="0">
                <a:solidFill>
                  <a:schemeClr val="bg1"/>
                </a:solidFill>
                <a:latin typeface="Noto Sans Display (Headings)"/>
                <a:cs typeface="+mj-cs"/>
              </a:endParaRPr>
            </a:p>
          </p:txBody>
        </p:sp>
      </p:grpSp>
      <p:pic>
        <p:nvPicPr>
          <p:cNvPr id="42" name="Picture 41">
            <a:extLst>
              <a:ext uri="{FF2B5EF4-FFF2-40B4-BE49-F238E27FC236}">
                <a16:creationId xmlns:a16="http://schemas.microsoft.com/office/drawing/2014/main" id="{321D9576-ABDB-C5AD-9ECA-246CDD507491}"/>
              </a:ext>
            </a:extLst>
          </p:cNvPr>
          <p:cNvPicPr>
            <a:picLocks noChangeAspect="1"/>
          </p:cNvPicPr>
          <p:nvPr/>
        </p:nvPicPr>
        <p:blipFill>
          <a:blip r:embed="rId3"/>
          <a:srcRect l="8540" r="5247"/>
          <a:stretch>
            <a:fillRect/>
          </a:stretch>
        </p:blipFill>
        <p:spPr>
          <a:xfrm>
            <a:off x="6284978" y="161824"/>
            <a:ext cx="5679946" cy="644014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C16"/>
        </a:solidFill>
        <a:effectLst/>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4CCFD1">
              <a:alpha val="78000"/>
            </a:srgbClr>
          </a:solidFill>
          <a:ln w="12700">
            <a:solidFill>
              <a:srgbClr val="4CCFD1">
                <a:alpha val="0"/>
              </a:srgbClr>
            </a:solidFill>
            <a:prstDash val="solid"/>
          </a:ln>
        </p:spPr>
        <p:txBody>
          <a:bodyPr/>
          <a:lstStyle/>
          <a:p>
            <a:endParaRPr lang="en-US"/>
          </a:p>
        </p:txBody>
      </p:sp>
      <p:sp>
        <p:nvSpPr>
          <p:cNvPr id="3" name="Text 1"/>
          <p:cNvSpPr/>
          <p:nvPr/>
        </p:nvSpPr>
        <p:spPr>
          <a:xfrm>
            <a:off x="566928" y="365760"/>
            <a:ext cx="2743200" cy="201168"/>
          </a:xfrm>
          <a:prstGeom prst="rect">
            <a:avLst/>
          </a:prstGeom>
          <a:noFill/>
          <a:ln/>
        </p:spPr>
        <p:txBody>
          <a:bodyPr wrap="square" lIns="0" tIns="0" rIns="0" bIns="0" rtlCol="0" anchor="ctr"/>
          <a:lstStyle/>
          <a:p>
            <a:pPr marL="0" indent="0">
              <a:buNone/>
            </a:pPr>
            <a:r>
              <a:rPr lang="en-US" sz="950" b="1" kern="0" spc="120" dirty="0">
                <a:solidFill>
                  <a:srgbClr val="4CCFD1"/>
                </a:solidFill>
                <a:latin typeface="Noto Sans" pitchFamily="34" charset="0"/>
                <a:ea typeface="Noto Sans" pitchFamily="34" charset="-122"/>
                <a:cs typeface="Noto Sans" pitchFamily="34" charset="-120"/>
              </a:rPr>
              <a:t>03 | BASELINE</a:t>
            </a:r>
            <a:endParaRPr lang="en-US" sz="950" dirty="0"/>
          </a:p>
        </p:txBody>
      </p:sp>
      <p:sp>
        <p:nvSpPr>
          <p:cNvPr id="4" name="Text 2"/>
          <p:cNvSpPr/>
          <p:nvPr/>
        </p:nvSpPr>
        <p:spPr>
          <a:xfrm>
            <a:off x="566928" y="713232"/>
            <a:ext cx="5993702" cy="475488"/>
          </a:xfrm>
          <a:prstGeom prst="rect">
            <a:avLst/>
          </a:prstGeom>
          <a:noFill/>
          <a:ln/>
        </p:spPr>
        <p:txBody>
          <a:bodyPr wrap="square" lIns="0" tIns="0" rIns="0" bIns="0" rtlCol="0" anchor="ctr">
            <a:noAutofit/>
          </a:bodyPr>
          <a:lstStyle/>
          <a:p>
            <a:pPr marL="0" indent="0">
              <a:buNone/>
            </a:pPr>
            <a:r>
              <a:rPr lang="en-US" sz="2200" b="1" dirty="0">
                <a:solidFill>
                  <a:srgbClr val="F5F8FB"/>
                </a:solidFill>
                <a:latin typeface="Noto Sans Display" pitchFamily="34" charset="0"/>
                <a:ea typeface="Noto Sans Display" pitchFamily="34" charset="-122"/>
                <a:cs typeface="Noto Sans Display" pitchFamily="34" charset="-120"/>
              </a:rPr>
              <a:t>Reference RNN and ordinary task training</a:t>
            </a:r>
            <a:endParaRPr lang="en-US" sz="2200" dirty="0"/>
          </a:p>
        </p:txBody>
      </p:sp>
      <p:sp>
        <p:nvSpPr>
          <p:cNvPr id="5" name="Text 3"/>
          <p:cNvSpPr/>
          <p:nvPr/>
        </p:nvSpPr>
        <p:spPr>
          <a:xfrm>
            <a:off x="640079" y="1316736"/>
            <a:ext cx="5223826" cy="987552"/>
          </a:xfrm>
          <a:prstGeom prst="rect">
            <a:avLst/>
          </a:prstGeom>
          <a:noFill/>
          <a:ln/>
        </p:spPr>
        <p:txBody>
          <a:bodyPr wrap="square" lIns="0" tIns="0" rIns="0" bIns="0" rtlCol="0" anchor="t">
            <a:normAutofit/>
          </a:bodyPr>
          <a:lstStyle/>
          <a:p>
            <a:pPr marL="0" indent="0" algn="l">
              <a:buNone/>
            </a:pPr>
            <a:r>
              <a:rPr lang="en-US" sz="1600" u="sng" dirty="0">
                <a:solidFill>
                  <a:srgbClr val="C8D3DF"/>
                </a:solidFill>
                <a:latin typeface="+mj-lt"/>
                <a:ea typeface="Noto Sans Display" pitchFamily="34" charset="-122"/>
                <a:cs typeface="Times New Roman" panose="02020603050405020304" pitchFamily="18" charset="0"/>
              </a:rPr>
              <a:t>Training  a standard RNN</a:t>
            </a:r>
            <a:endParaRPr lang="en-US" sz="1600" u="sng" dirty="0">
              <a:latin typeface="+mj-lt"/>
              <a:cs typeface="Times New Roman" panose="02020603050405020304" pitchFamily="18" charset="0"/>
            </a:endParaRPr>
          </a:p>
        </p:txBody>
      </p:sp>
      <p:sp>
        <p:nvSpPr>
          <p:cNvPr id="6" name="Text 4"/>
          <p:cNvSpPr/>
          <p:nvPr/>
        </p:nvSpPr>
        <p:spPr>
          <a:xfrm>
            <a:off x="713232" y="1847088"/>
            <a:ext cx="3017520" cy="201168"/>
          </a:xfrm>
          <a:prstGeom prst="rect">
            <a:avLst/>
          </a:prstGeom>
          <a:noFill/>
          <a:ln/>
        </p:spPr>
        <p:txBody>
          <a:bodyPr wrap="square" lIns="0" tIns="0" rIns="0" bIns="0" rtlCol="0" anchor="t">
            <a:normAutofit/>
          </a:bodyPr>
          <a:lstStyle/>
          <a:p>
            <a:pPr marL="0" indent="0" algn="l">
              <a:buNone/>
            </a:pPr>
            <a:r>
              <a:rPr lang="en-US" sz="980" b="1" kern="0" spc="90" dirty="0">
                <a:solidFill>
                  <a:srgbClr val="7E90A4"/>
                </a:solidFill>
                <a:latin typeface="Noto Sans" pitchFamily="34" charset="0"/>
                <a:ea typeface="Noto Sans" pitchFamily="34" charset="-122"/>
                <a:cs typeface="Noto Sans" pitchFamily="34" charset="-120"/>
              </a:rPr>
              <a:t>Continuous-time rate dynamics</a:t>
            </a:r>
            <a:endParaRPr lang="en-US" sz="980" dirty="0"/>
          </a:p>
        </p:txBody>
      </p:sp>
      <p:sp>
        <p:nvSpPr>
          <p:cNvPr id="7" name="Shape 5"/>
          <p:cNvSpPr/>
          <p:nvPr/>
        </p:nvSpPr>
        <p:spPr>
          <a:xfrm>
            <a:off x="713231" y="2139696"/>
            <a:ext cx="3498041" cy="749808"/>
          </a:xfrm>
          <a:prstGeom prst="rect">
            <a:avLst/>
          </a:prstGeom>
          <a:solidFill>
            <a:srgbClr val="071321"/>
          </a:solidFill>
          <a:ln w="10160">
            <a:solidFill>
              <a:srgbClr val="2B435C"/>
            </a:solidFill>
            <a:prstDash val="solid"/>
          </a:ln>
        </p:spPr>
        <p:txBody>
          <a:bodyPr/>
          <a:lstStyle/>
          <a:p>
            <a:endParaRPr lang="en-US"/>
          </a:p>
        </p:txBody>
      </p:sp>
      <p:sp>
        <p:nvSpPr>
          <p:cNvPr id="9" name="Shape 7"/>
          <p:cNvSpPr/>
          <p:nvPr/>
        </p:nvSpPr>
        <p:spPr>
          <a:xfrm>
            <a:off x="713232" y="3054096"/>
            <a:ext cx="3498040" cy="749808"/>
          </a:xfrm>
          <a:prstGeom prst="rect">
            <a:avLst/>
          </a:prstGeom>
          <a:solidFill>
            <a:srgbClr val="071321"/>
          </a:solidFill>
          <a:ln w="10160">
            <a:solidFill>
              <a:srgbClr val="2B435C"/>
            </a:solidFill>
            <a:prstDash val="solid"/>
          </a:ln>
        </p:spPr>
        <p:txBody>
          <a:bodyPr/>
          <a:lstStyle/>
          <a:p>
            <a:endParaRPr lang="en-US"/>
          </a:p>
        </p:txBody>
      </p:sp>
      <p:sp>
        <p:nvSpPr>
          <p:cNvPr id="11" name="Text 9"/>
          <p:cNvSpPr/>
          <p:nvPr/>
        </p:nvSpPr>
        <p:spPr>
          <a:xfrm>
            <a:off x="713232" y="3922776"/>
            <a:ext cx="2011680" cy="201168"/>
          </a:xfrm>
          <a:prstGeom prst="rect">
            <a:avLst/>
          </a:prstGeom>
          <a:noFill/>
          <a:ln/>
        </p:spPr>
        <p:txBody>
          <a:bodyPr wrap="square" lIns="0" tIns="0" rIns="0" bIns="0" rtlCol="0" anchor="t">
            <a:normAutofit/>
          </a:bodyPr>
          <a:lstStyle/>
          <a:p>
            <a:pPr marL="0" indent="0" algn="l">
              <a:buNone/>
            </a:pPr>
            <a:r>
              <a:rPr lang="en-US" sz="980" b="1" kern="0" spc="90" dirty="0">
                <a:solidFill>
                  <a:srgbClr val="7E90A4"/>
                </a:solidFill>
                <a:latin typeface="Noto Sans" pitchFamily="34" charset="0"/>
                <a:ea typeface="Noto Sans" pitchFamily="34" charset="-122"/>
                <a:cs typeface="Noto Sans" pitchFamily="34" charset="-120"/>
              </a:rPr>
              <a:t>Training objective</a:t>
            </a:r>
            <a:endParaRPr lang="en-US" sz="980" dirty="0"/>
          </a:p>
        </p:txBody>
      </p:sp>
      <p:sp>
        <p:nvSpPr>
          <p:cNvPr id="12" name="Shape 10"/>
          <p:cNvSpPr/>
          <p:nvPr/>
        </p:nvSpPr>
        <p:spPr>
          <a:xfrm>
            <a:off x="690042" y="4188542"/>
            <a:ext cx="3498040" cy="749808"/>
          </a:xfrm>
          <a:prstGeom prst="rect">
            <a:avLst/>
          </a:prstGeom>
          <a:solidFill>
            <a:srgbClr val="071321"/>
          </a:solidFill>
          <a:ln w="10160">
            <a:solidFill>
              <a:srgbClr val="2B435C"/>
            </a:solidFill>
            <a:prstDash val="solid"/>
          </a:ln>
        </p:spPr>
        <p:txBody>
          <a:bodyPr/>
          <a:lstStyle/>
          <a:p>
            <a:endParaRPr lang="en-US"/>
          </a:p>
        </p:txBody>
      </p:sp>
      <p:grpSp>
        <p:nvGrpSpPr>
          <p:cNvPr id="40" name="Group 39">
            <a:extLst>
              <a:ext uri="{FF2B5EF4-FFF2-40B4-BE49-F238E27FC236}">
                <a16:creationId xmlns:a16="http://schemas.microsoft.com/office/drawing/2014/main" id="{CDF77A09-627D-7DB6-BF66-C2DBF90C3F34}"/>
              </a:ext>
            </a:extLst>
          </p:cNvPr>
          <p:cNvGrpSpPr/>
          <p:nvPr/>
        </p:nvGrpSpPr>
        <p:grpSpPr>
          <a:xfrm>
            <a:off x="665517" y="5148662"/>
            <a:ext cx="4852557" cy="1482124"/>
            <a:chOff x="6647688" y="4706559"/>
            <a:chExt cx="4852557" cy="1482124"/>
          </a:xfrm>
        </p:grpSpPr>
        <p:grpSp>
          <p:nvGrpSpPr>
            <p:cNvPr id="39" name="Group 38">
              <a:extLst>
                <a:ext uri="{FF2B5EF4-FFF2-40B4-BE49-F238E27FC236}">
                  <a16:creationId xmlns:a16="http://schemas.microsoft.com/office/drawing/2014/main" id="{7077282E-C296-5352-0D0A-39FAD4946A0B}"/>
                </a:ext>
              </a:extLst>
            </p:cNvPr>
            <p:cNvGrpSpPr/>
            <p:nvPr/>
          </p:nvGrpSpPr>
          <p:grpSpPr>
            <a:xfrm>
              <a:off x="6647688" y="4706559"/>
              <a:ext cx="4480560" cy="1033859"/>
              <a:chOff x="6693408" y="4068492"/>
              <a:chExt cx="4480560" cy="1033859"/>
            </a:xfrm>
          </p:grpSpPr>
          <p:sp>
            <p:nvSpPr>
              <p:cNvPr id="26" name="Shape 24"/>
              <p:cNvSpPr/>
              <p:nvPr/>
            </p:nvSpPr>
            <p:spPr>
              <a:xfrm>
                <a:off x="6693408" y="4068492"/>
                <a:ext cx="3530955" cy="1033859"/>
              </a:xfrm>
              <a:prstGeom prst="rect">
                <a:avLst/>
              </a:prstGeom>
              <a:solidFill>
                <a:srgbClr val="0B1A2B"/>
              </a:solidFill>
              <a:ln w="10160">
                <a:solidFill>
                  <a:srgbClr val="2B435C"/>
                </a:solidFill>
                <a:prstDash val="solid"/>
              </a:ln>
            </p:spPr>
            <p:txBody>
              <a:bodyPr/>
              <a:lstStyle/>
              <a:p>
                <a:endParaRPr lang="en-US"/>
              </a:p>
            </p:txBody>
          </p:sp>
          <p:sp>
            <p:nvSpPr>
              <p:cNvPr id="27" name="Text 25"/>
              <p:cNvSpPr/>
              <p:nvPr/>
            </p:nvSpPr>
            <p:spPr>
              <a:xfrm>
                <a:off x="6967728" y="4188746"/>
                <a:ext cx="3291840" cy="237744"/>
              </a:xfrm>
              <a:prstGeom prst="rect">
                <a:avLst/>
              </a:prstGeom>
              <a:noFill/>
              <a:ln/>
            </p:spPr>
            <p:txBody>
              <a:bodyPr wrap="square" lIns="0" tIns="0" rIns="0" bIns="0" rtlCol="0" anchor="t">
                <a:normAutofit/>
              </a:bodyPr>
              <a:lstStyle/>
              <a:p>
                <a:pPr marL="0" indent="0" algn="l">
                  <a:buNone/>
                </a:pPr>
                <a:r>
                  <a:rPr lang="en-US" sz="1500" b="1" dirty="0">
                    <a:solidFill>
                      <a:srgbClr val="F5F8FB"/>
                    </a:solidFill>
                    <a:latin typeface="Noto Sans Display" pitchFamily="34" charset="0"/>
                    <a:ea typeface="Noto Sans Display" pitchFamily="34" charset="-122"/>
                    <a:cs typeface="Noto Sans Display" pitchFamily="34" charset="-120"/>
                  </a:rPr>
                  <a:t>Standard comparison population</a:t>
                </a:r>
                <a:endParaRPr lang="en-US" sz="1500" dirty="0"/>
              </a:p>
            </p:txBody>
          </p:sp>
          <p:sp>
            <p:nvSpPr>
              <p:cNvPr id="28" name="Text 26"/>
              <p:cNvSpPr/>
              <p:nvPr/>
            </p:nvSpPr>
            <p:spPr>
              <a:xfrm>
                <a:off x="6967728" y="4563253"/>
                <a:ext cx="4206240" cy="402336"/>
              </a:xfrm>
              <a:prstGeom prst="rect">
                <a:avLst/>
              </a:prstGeom>
              <a:noFill/>
              <a:ln/>
            </p:spPr>
            <p:txBody>
              <a:bodyPr wrap="square" lIns="0" tIns="0" rIns="0" bIns="0" rtlCol="0" anchor="t">
                <a:normAutofit/>
              </a:bodyPr>
              <a:lstStyle/>
              <a:p>
                <a:pPr marL="0" indent="0" algn="l">
                  <a:buNone/>
                </a:pPr>
                <a:r>
                  <a:rPr lang="en-US" sz="1260" dirty="0">
                    <a:solidFill>
                      <a:srgbClr val="C8D3DF"/>
                    </a:solidFill>
                    <a:latin typeface="Noto Sans" pitchFamily="34" charset="0"/>
                    <a:ea typeface="Noto Sans" pitchFamily="34" charset="-122"/>
                    <a:cs typeface="Noto Sans" pitchFamily="34" charset="-120"/>
                  </a:rPr>
                  <a:t>10 seeds for each initialization gain</a:t>
                </a:r>
                <a:endParaRPr lang="en-US" sz="1260" dirty="0"/>
              </a:p>
              <a:p>
                <a:pPr marL="0" indent="0" algn="l">
                  <a:buNone/>
                </a:pPr>
                <a:r>
                  <a:rPr lang="en-US" sz="1260" dirty="0">
                    <a:solidFill>
                      <a:srgbClr val="C8D3DF"/>
                    </a:solidFill>
                    <a:latin typeface="Noto Sans" pitchFamily="34" charset="0"/>
                    <a:ea typeface="Noto Sans" pitchFamily="34" charset="-122"/>
                    <a:cs typeface="Noto Sans" pitchFamily="34" charset="-120"/>
                  </a:rPr>
                  <a:t>g ∈ {0.01, 0.5, 1.0, 1.5}</a:t>
                </a:r>
                <a:endParaRPr lang="en-US" sz="1260" dirty="0"/>
              </a:p>
            </p:txBody>
          </p:sp>
        </p:grpSp>
        <p:sp>
          <p:nvSpPr>
            <p:cNvPr id="29" name="Text 27"/>
            <p:cNvSpPr/>
            <p:nvPr/>
          </p:nvSpPr>
          <p:spPr>
            <a:xfrm>
              <a:off x="6672213" y="5804218"/>
              <a:ext cx="4828032" cy="384465"/>
            </a:xfrm>
            <a:prstGeom prst="rect">
              <a:avLst/>
            </a:prstGeom>
            <a:noFill/>
            <a:ln/>
          </p:spPr>
          <p:txBody>
            <a:bodyPr wrap="square" lIns="0" tIns="0" rIns="0" bIns="0" rtlCol="0" anchor="t">
              <a:normAutofit/>
            </a:bodyPr>
            <a:lstStyle/>
            <a:p>
              <a:pPr marL="0" indent="0" algn="l">
                <a:buNone/>
              </a:pPr>
              <a:r>
                <a:rPr lang="en-US" sz="1100" b="1" dirty="0">
                  <a:solidFill>
                    <a:srgbClr val="7FD8FF"/>
                  </a:solidFill>
                  <a:latin typeface="Noto Sans Display" pitchFamily="34" charset="0"/>
                  <a:ea typeface="Noto Sans Display" pitchFamily="34" charset="-122"/>
                  <a:cs typeface="Noto Sans Display" pitchFamily="34" charset="-120"/>
                </a:rPr>
                <a:t>Performance is optimized, but solution diversity is not.</a:t>
              </a:r>
              <a:endParaRPr lang="en-US" sz="1100" dirty="0"/>
            </a:p>
          </p:txBody>
        </p:sp>
      </p:grpSp>
      <p:sp>
        <p:nvSpPr>
          <p:cNvPr id="30" name="Shape 28"/>
          <p:cNvSpPr/>
          <p:nvPr/>
        </p:nvSpPr>
        <p:spPr>
          <a:xfrm>
            <a:off x="457200" y="6528816"/>
            <a:ext cx="11274552" cy="0"/>
          </a:xfrm>
          <a:prstGeom prst="line">
            <a:avLst/>
          </a:prstGeom>
          <a:noFill/>
          <a:ln w="8890">
            <a:solidFill>
              <a:srgbClr val="193049"/>
            </a:solidFill>
            <a:prstDash val="solid"/>
          </a:ln>
        </p:spPr>
        <p:txBody>
          <a:bodyPr/>
          <a:lstStyle/>
          <a:p>
            <a:endParaRPr lang="en-US"/>
          </a:p>
        </p:txBody>
      </p:sp>
      <p:sp>
        <p:nvSpPr>
          <p:cNvPr id="31" name="Text 29"/>
          <p:cNvSpPr/>
          <p:nvPr/>
        </p:nvSpPr>
        <p:spPr>
          <a:xfrm>
            <a:off x="482637" y="6601968"/>
            <a:ext cx="2560320" cy="146304"/>
          </a:xfrm>
          <a:prstGeom prst="rect">
            <a:avLst/>
          </a:prstGeom>
          <a:noFill/>
          <a:ln/>
        </p:spPr>
        <p:txBody>
          <a:bodyPr wrap="square" lIns="0" tIns="0" rIns="0" bIns="0" rtlCol="0" anchor="ctr"/>
          <a:lstStyle/>
          <a:p>
            <a:pPr marL="0" indent="0">
              <a:buNone/>
            </a:pPr>
            <a:r>
              <a:rPr lang="en-US" sz="750" dirty="0">
                <a:solidFill>
                  <a:srgbClr val="7E90A4"/>
                </a:solidFill>
                <a:latin typeface="Noto Sans" pitchFamily="34" charset="0"/>
                <a:ea typeface="Noto Sans" pitchFamily="34" charset="-122"/>
                <a:cs typeface="Noto Sans" pitchFamily="34" charset="-120"/>
              </a:rPr>
              <a:t>Qian &amp; Pehlevan | ICLR 2026</a:t>
            </a:r>
            <a:endParaRPr lang="en-US" sz="750" dirty="0"/>
          </a:p>
        </p:txBody>
      </p:sp>
      <p:sp>
        <p:nvSpPr>
          <p:cNvPr id="32"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t>4</a:t>
            </a:fld>
            <a:endParaRPr lang="en-US"/>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A467496-741F-AB6D-32F3-F90D7406A612}"/>
                  </a:ext>
                </a:extLst>
              </p:cNvPr>
              <p:cNvSpPr txBox="1"/>
              <p:nvPr/>
            </p:nvSpPr>
            <p:spPr>
              <a:xfrm>
                <a:off x="1274502" y="2242472"/>
                <a:ext cx="2550762" cy="525913"/>
              </a:xfrm>
              <a:prstGeom prst="rect">
                <a:avLst/>
              </a:prstGeom>
              <a:noFill/>
            </p:spPr>
            <p:txBody>
              <a:bodyPr wrap="none" lIns="0" tIns="0" rIns="0" bIns="0" rtlCol="0">
                <a:spAutoFit/>
              </a:bodyPr>
              <a:lstStyle/>
              <a:p>
                <a:pPr/>
                <a14:m>
                  <m:oMathPara xmlns:m="http://schemas.openxmlformats.org/officeDocument/2006/math">
                    <m:oMath>
                      <m:f>
                        <m:fPr>
                          <m:ctrlPr>
                            <a:rPr lang="pt-BR" i="1">
                              <a:solidFill>
                                <a:schemeClr val="bg1"/>
                              </a:solidFill>
                              <a:latin typeface="Cambria Math" panose="02040503050406030204" pitchFamily="18" charset="0"/>
                            </a:rPr>
                          </m:ctrlPr>
                        </m:fPr>
                        <m:num>
                          <m:r>
                            <a:rPr lang="pt-BR" i="1">
                              <a:solidFill>
                                <a:schemeClr val="bg1"/>
                              </a:solidFill>
                              <a:latin typeface="Cambria Math" panose="02040503050406030204" pitchFamily="18" charset="0"/>
                            </a:rPr>
                            <m:t>𝑑𝑥</m:t>
                          </m:r>
                        </m:num>
                        <m:den>
                          <m:r>
                            <a:rPr lang="pt-BR" i="1">
                              <a:solidFill>
                                <a:schemeClr val="bg1"/>
                              </a:solidFill>
                              <a:latin typeface="Cambria Math" panose="02040503050406030204" pitchFamily="18" charset="0"/>
                            </a:rPr>
                            <m:t>𝑑𝑡</m:t>
                          </m:r>
                        </m:den>
                      </m:f>
                      <m:r>
                        <a:rPr lang="pt-BR" i="1">
                          <a:solidFill>
                            <a:schemeClr val="bg1"/>
                          </a:solidFill>
                          <a:latin typeface="Cambria Math" panose="02040503050406030204" pitchFamily="18" charset="0"/>
                        </a:rPr>
                        <m:t>=−</m:t>
                      </m:r>
                      <m:r>
                        <a:rPr lang="pt-BR" i="1">
                          <a:solidFill>
                            <a:schemeClr val="bg1"/>
                          </a:solidFill>
                          <a:latin typeface="Cambria Math" panose="02040503050406030204" pitchFamily="18" charset="0"/>
                        </a:rPr>
                        <m:t>𝑥</m:t>
                      </m:r>
                      <m:r>
                        <a:rPr lang="pt-BR" i="1">
                          <a:solidFill>
                            <a:schemeClr val="bg1"/>
                          </a:solidFill>
                          <a:latin typeface="Cambria Math" panose="02040503050406030204" pitchFamily="18" charset="0"/>
                        </a:rPr>
                        <m:t>+</m:t>
                      </m:r>
                      <m:sSub>
                        <m:sSubPr>
                          <m:ctrlPr>
                            <a:rPr lang="pt-BR" i="1">
                              <a:solidFill>
                                <a:schemeClr val="bg1"/>
                              </a:solidFill>
                              <a:latin typeface="Cambria Math" panose="02040503050406030204" pitchFamily="18" charset="0"/>
                            </a:rPr>
                          </m:ctrlPr>
                        </m:sSubPr>
                        <m:e>
                          <m:r>
                            <a:rPr lang="pt-BR" i="1">
                              <a:solidFill>
                                <a:schemeClr val="bg1"/>
                              </a:solidFill>
                              <a:latin typeface="Cambria Math" panose="02040503050406030204" pitchFamily="18" charset="0"/>
                            </a:rPr>
                            <m:t>𝑊</m:t>
                          </m:r>
                        </m:e>
                        <m:sub>
                          <m:r>
                            <a:rPr lang="pt-BR" i="1">
                              <a:solidFill>
                                <a:schemeClr val="bg1"/>
                              </a:solidFill>
                              <a:latin typeface="Cambria Math" panose="02040503050406030204" pitchFamily="18" charset="0"/>
                            </a:rPr>
                            <m:t>𝑟</m:t>
                          </m:r>
                        </m:sub>
                      </m:sSub>
                      <m:r>
                        <a:rPr lang="pt-BR" i="1">
                          <a:solidFill>
                            <a:schemeClr val="bg1"/>
                          </a:solidFill>
                          <a:latin typeface="Cambria Math" panose="02040503050406030204" pitchFamily="18" charset="0"/>
                        </a:rPr>
                        <m:t>𝑟</m:t>
                      </m:r>
                      <m:r>
                        <a:rPr lang="pt-BR" i="1">
                          <a:solidFill>
                            <a:schemeClr val="bg1"/>
                          </a:solidFill>
                          <a:latin typeface="Cambria Math" panose="02040503050406030204" pitchFamily="18" charset="0"/>
                        </a:rPr>
                        <m:t>+</m:t>
                      </m:r>
                      <m:sSub>
                        <m:sSubPr>
                          <m:ctrlPr>
                            <a:rPr lang="pt-BR" i="1">
                              <a:solidFill>
                                <a:schemeClr val="bg1"/>
                              </a:solidFill>
                              <a:latin typeface="Cambria Math" panose="02040503050406030204" pitchFamily="18" charset="0"/>
                            </a:rPr>
                          </m:ctrlPr>
                        </m:sSubPr>
                        <m:e>
                          <m:r>
                            <a:rPr lang="pt-BR" i="1">
                              <a:solidFill>
                                <a:schemeClr val="bg1"/>
                              </a:solidFill>
                              <a:latin typeface="Cambria Math" panose="02040503050406030204" pitchFamily="18" charset="0"/>
                            </a:rPr>
                            <m:t>𝐽</m:t>
                          </m:r>
                        </m:e>
                        <m:sub>
                          <m:r>
                            <a:rPr lang="pt-BR" i="1">
                              <a:solidFill>
                                <a:schemeClr val="bg1"/>
                              </a:solidFill>
                              <a:latin typeface="Cambria Math" panose="02040503050406030204" pitchFamily="18" charset="0"/>
                            </a:rPr>
                            <m:t>𝑖𝑛</m:t>
                          </m:r>
                        </m:sub>
                      </m:sSub>
                      <m:r>
                        <a:rPr lang="pt-BR" i="1">
                          <a:solidFill>
                            <a:schemeClr val="bg1"/>
                          </a:solidFill>
                          <a:latin typeface="Cambria Math" panose="02040503050406030204" pitchFamily="18" charset="0"/>
                        </a:rPr>
                        <m:t>𝑢</m:t>
                      </m:r>
                      <m:d>
                        <m:dPr>
                          <m:ctrlPr>
                            <a:rPr lang="pt-BR" i="1">
                              <a:solidFill>
                                <a:schemeClr val="bg1"/>
                              </a:solidFill>
                              <a:latin typeface="Cambria Math" panose="02040503050406030204" pitchFamily="18" charset="0"/>
                            </a:rPr>
                          </m:ctrlPr>
                        </m:dPr>
                        <m:e>
                          <m:r>
                            <a:rPr lang="pt-BR" i="1">
                              <a:solidFill>
                                <a:schemeClr val="bg1"/>
                              </a:solidFill>
                              <a:latin typeface="Cambria Math" panose="02040503050406030204" pitchFamily="18" charset="0"/>
                            </a:rPr>
                            <m:t>𝑡</m:t>
                          </m:r>
                        </m:e>
                      </m:d>
                    </m:oMath>
                  </m:oMathPara>
                </a14:m>
                <a:endParaRPr lang="en-US" dirty="0"/>
              </a:p>
            </p:txBody>
          </p:sp>
        </mc:Choice>
        <mc:Fallback xmlns="">
          <p:sp>
            <p:nvSpPr>
              <p:cNvPr id="36" name="TextBox 35">
                <a:extLst>
                  <a:ext uri="{FF2B5EF4-FFF2-40B4-BE49-F238E27FC236}">
                    <a16:creationId xmlns:a16="http://schemas.microsoft.com/office/drawing/2014/main" id="{FA467496-741F-AB6D-32F3-F90D7406A612}"/>
                  </a:ext>
                </a:extLst>
              </p:cNvPr>
              <p:cNvSpPr txBox="1">
                <a:spLocks noRot="1" noChangeAspect="1" noMove="1" noResize="1" noEditPoints="1" noAdjustHandles="1" noChangeArrowheads="1" noChangeShapeType="1" noTextEdit="1"/>
              </p:cNvSpPr>
              <p:nvPr/>
            </p:nvSpPr>
            <p:spPr>
              <a:xfrm>
                <a:off x="1274502" y="2242472"/>
                <a:ext cx="2550762" cy="52591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4E5AABE-BA3F-5269-3265-6461011CAB0B}"/>
                  </a:ext>
                </a:extLst>
              </p:cNvPr>
              <p:cNvSpPr txBox="1"/>
              <p:nvPr/>
            </p:nvSpPr>
            <p:spPr>
              <a:xfrm>
                <a:off x="798261" y="3200505"/>
                <a:ext cx="3326359" cy="310791"/>
              </a:xfrm>
              <a:prstGeom prst="rect">
                <a:avLst/>
              </a:prstGeom>
              <a:noFill/>
            </p:spPr>
            <p:txBody>
              <a:bodyPr wrap="none" lIns="0" tIns="0" rIns="0" bIns="0" rtlCol="0">
                <a:spAutoFit/>
              </a:bodyPr>
              <a:lstStyle/>
              <a:p>
                <a:pPr/>
                <a14:m>
                  <m:oMathPara xmlns:m="http://schemas.openxmlformats.org/officeDocument/2006/math">
                    <m:oMath>
                      <m:r>
                        <a:rPr lang="en-US" i="1" smtClean="0">
                          <a:solidFill>
                            <a:schemeClr val="bg1"/>
                          </a:solidFill>
                          <a:latin typeface="Cambria Math" panose="02040503050406030204" pitchFamily="18" charset="0"/>
                        </a:rPr>
                        <m:t>𝑟</m:t>
                      </m:r>
                      <m:r>
                        <a:rPr lang="en-US" i="1" smtClean="0">
                          <a:solidFill>
                            <a:schemeClr val="bg1"/>
                          </a:solidFill>
                          <a:latin typeface="Cambria Math" panose="02040503050406030204" pitchFamily="18" charset="0"/>
                        </a:rPr>
                        <m:t>=</m:t>
                      </m:r>
                      <m:func>
                        <m:funcPr>
                          <m:ctrlPr>
                            <a:rPr lang="en-US" i="1">
                              <a:solidFill>
                                <a:schemeClr val="bg1"/>
                              </a:solidFill>
                              <a:latin typeface="Cambria Math" panose="02040503050406030204" pitchFamily="18" charset="0"/>
                            </a:rPr>
                          </m:ctrlPr>
                        </m:funcPr>
                        <m:fName>
                          <m:r>
                            <m:rPr>
                              <m:sty m:val="p"/>
                            </m:rPr>
                            <a:rPr lang="en-US" i="1">
                              <a:solidFill>
                                <a:schemeClr val="bg1"/>
                              </a:solidFill>
                              <a:latin typeface="Cambria Math" panose="02040503050406030204" pitchFamily="18" charset="0"/>
                            </a:rPr>
                            <m:t>tanh</m:t>
                          </m:r>
                        </m:fName>
                        <m:e>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𝑥</m:t>
                              </m:r>
                            </m:e>
                          </m:d>
                        </m:e>
                      </m:func>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𝑦</m:t>
                      </m:r>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𝑡</m:t>
                          </m:r>
                        </m:e>
                      </m:d>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𝐽</m:t>
                          </m:r>
                        </m:e>
                        <m:sub>
                          <m:r>
                            <a:rPr lang="en-US" i="1">
                              <a:solidFill>
                                <a:schemeClr val="bg1"/>
                              </a:solidFill>
                              <a:latin typeface="Cambria Math" panose="02040503050406030204" pitchFamily="18" charset="0"/>
                            </a:rPr>
                            <m:t>𝑜𝑢𝑡</m:t>
                          </m:r>
                        </m:sub>
                      </m:sSub>
                      <m:r>
                        <a:rPr lang="en-US" i="1">
                          <a:solidFill>
                            <a:schemeClr val="bg1"/>
                          </a:solidFill>
                          <a:latin typeface="Cambria Math" panose="02040503050406030204" pitchFamily="18" charset="0"/>
                        </a:rPr>
                        <m:t>𝑟</m:t>
                      </m:r>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𝑡</m:t>
                          </m:r>
                        </m:e>
                      </m:d>
                    </m:oMath>
                  </m:oMathPara>
                </a14:m>
                <a:endParaRPr lang="en-US" dirty="0"/>
              </a:p>
            </p:txBody>
          </p:sp>
        </mc:Choice>
        <mc:Fallback xmlns="">
          <p:sp>
            <p:nvSpPr>
              <p:cNvPr id="37" name="TextBox 36">
                <a:extLst>
                  <a:ext uri="{FF2B5EF4-FFF2-40B4-BE49-F238E27FC236}">
                    <a16:creationId xmlns:a16="http://schemas.microsoft.com/office/drawing/2014/main" id="{84E5AABE-BA3F-5269-3265-6461011CAB0B}"/>
                  </a:ext>
                </a:extLst>
              </p:cNvPr>
              <p:cNvSpPr txBox="1">
                <a:spLocks noRot="1" noChangeAspect="1" noMove="1" noResize="1" noEditPoints="1" noAdjustHandles="1" noChangeArrowheads="1" noChangeShapeType="1" noTextEdit="1"/>
              </p:cNvSpPr>
              <p:nvPr/>
            </p:nvSpPr>
            <p:spPr>
              <a:xfrm>
                <a:off x="798261" y="3200505"/>
                <a:ext cx="3326359" cy="310791"/>
              </a:xfrm>
              <a:prstGeom prst="rect">
                <a:avLst/>
              </a:prstGeom>
              <a:blipFill>
                <a:blip r:embed="rId4"/>
                <a:stretch>
                  <a:fillRect l="-549" t="-17647" b="-431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2F3173D-39C3-DA9C-F939-59DEB1EA3945}"/>
                  </a:ext>
                </a:extLst>
              </p:cNvPr>
              <p:cNvSpPr txBox="1"/>
              <p:nvPr/>
            </p:nvSpPr>
            <p:spPr>
              <a:xfrm>
                <a:off x="977600" y="4274399"/>
                <a:ext cx="2843406" cy="622927"/>
              </a:xfrm>
              <a:prstGeom prst="rect">
                <a:avLst/>
              </a:prstGeom>
              <a:noFill/>
            </p:spPr>
            <p:txBody>
              <a:bodyPr wrap="none" lIns="0" tIns="0" rIns="0" bIns="0" rtlCol="0">
                <a:spAutoFit/>
              </a:bodyPr>
              <a:lstStyle/>
              <a:p>
                <a:pPr/>
                <a14:m>
                  <m:oMathPara xmlns:m="http://schemas.openxmlformats.org/officeDocument/2006/math">
                    <m:oMath>
                      <m:r>
                        <a:rPr lang="en-US" i="1" smtClean="0">
                          <a:solidFill>
                            <a:schemeClr val="bg1"/>
                          </a:solidFill>
                          <a:latin typeface="Cambria Math" panose="02040503050406030204" pitchFamily="18" charset="0"/>
                        </a:rPr>
                        <m:t>𝐿</m:t>
                      </m:r>
                      <m:r>
                        <a:rPr lang="en-US" i="1" smtClean="0">
                          <a:solidFill>
                            <a:schemeClr val="bg1"/>
                          </a:solidFill>
                          <a:latin typeface="Cambria Math" panose="02040503050406030204" pitchFamily="18" charset="0"/>
                        </a:rPr>
                        <m:t>=</m:t>
                      </m:r>
                      <m:f>
                        <m:fPr>
                          <m:ctrlPr>
                            <a:rPr lang="en-US" i="1">
                              <a:solidFill>
                                <a:schemeClr val="bg1"/>
                              </a:solidFill>
                              <a:latin typeface="Cambria Math" panose="02040503050406030204" pitchFamily="18" charset="0"/>
                            </a:rPr>
                          </m:ctrlPr>
                        </m:fPr>
                        <m:num>
                          <m:r>
                            <a:rPr lang="en-US" i="1">
                              <a:solidFill>
                                <a:schemeClr val="bg1"/>
                              </a:solidFill>
                              <a:latin typeface="Cambria Math" panose="02040503050406030204" pitchFamily="18" charset="0"/>
                            </a:rPr>
                            <m:t>1</m:t>
                          </m:r>
                        </m:num>
                        <m:den>
                          <m:r>
                            <a:rPr lang="en-US" i="1">
                              <a:solidFill>
                                <a:schemeClr val="bg1"/>
                              </a:solidFill>
                              <a:latin typeface="Cambria Math" panose="02040503050406030204" pitchFamily="18" charset="0"/>
                            </a:rPr>
                            <m:t>𝑇</m:t>
                          </m:r>
                        </m:den>
                      </m:f>
                      <m:nary>
                        <m:naryPr>
                          <m:limLoc m:val="subSup"/>
                          <m:ctrlPr>
                            <a:rPr lang="en-US" i="1">
                              <a:solidFill>
                                <a:schemeClr val="bg1"/>
                              </a:solidFill>
                              <a:latin typeface="Cambria Math" panose="02040503050406030204" pitchFamily="18" charset="0"/>
                            </a:rPr>
                          </m:ctrlPr>
                        </m:naryPr>
                        <m:sub>
                          <m:r>
                            <a:rPr lang="en-US" i="1">
                              <a:solidFill>
                                <a:schemeClr val="bg1"/>
                              </a:solidFill>
                              <a:latin typeface="Cambria Math" panose="02040503050406030204" pitchFamily="18" charset="0"/>
                            </a:rPr>
                            <m:t>0</m:t>
                          </m:r>
                        </m:sub>
                        <m:sup>
                          <m:r>
                            <a:rPr lang="en-US" i="1">
                              <a:solidFill>
                                <a:schemeClr val="bg1"/>
                              </a:solidFill>
                              <a:latin typeface="Cambria Math" panose="02040503050406030204" pitchFamily="18" charset="0"/>
                            </a:rPr>
                            <m:t>𝑇</m:t>
                          </m:r>
                        </m:sup>
                        <m:e>
                          <m:sSup>
                            <m:sSupPr>
                              <m:ctrlPr>
                                <a:rPr lang="en-US" i="1">
                                  <a:solidFill>
                                    <a:schemeClr val="bg1"/>
                                  </a:solidFill>
                                  <a:latin typeface="Cambria Math" panose="02040503050406030204" pitchFamily="18" charset="0"/>
                                </a:rPr>
                              </m:ctrlPr>
                            </m:sSupPr>
                            <m:e>
                              <m:d>
                                <m:dPr>
                                  <m:begChr m:val="‖"/>
                                  <m:endChr m:val="‖"/>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𝑦</m:t>
                                  </m:r>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𝑡</m:t>
                                      </m:r>
                                    </m:e>
                                  </m:d>
                                  <m:r>
                                    <a:rPr lang="en-US" i="1">
                                      <a:solidFill>
                                        <a:schemeClr val="bg1"/>
                                      </a:solidFill>
                                      <a:latin typeface="Cambria Math" panose="02040503050406030204" pitchFamily="18" charset="0"/>
                                    </a:rPr>
                                    <m:t>−</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𝑦</m:t>
                                      </m:r>
                                    </m:e>
                                    <m:sup>
                                      <m:r>
                                        <a:rPr lang="en-US" i="1">
                                          <a:solidFill>
                                            <a:schemeClr val="bg1"/>
                                          </a:solidFill>
                                          <a:latin typeface="Cambria Math" panose="02040503050406030204" pitchFamily="18" charset="0"/>
                                        </a:rPr>
                                        <m:t>∗</m:t>
                                      </m:r>
                                    </m:sup>
                                  </m:sSup>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𝑡</m:t>
                                      </m:r>
                                    </m:e>
                                  </m:d>
                                </m:e>
                              </m:d>
                            </m:e>
                            <m:sup>
                              <m:r>
                                <a:rPr lang="en-US" i="1">
                                  <a:solidFill>
                                    <a:schemeClr val="bg1"/>
                                  </a:solidFill>
                                  <a:latin typeface="Cambria Math" panose="02040503050406030204" pitchFamily="18" charset="0"/>
                                </a:rPr>
                                <m:t>2</m:t>
                              </m:r>
                            </m:sup>
                          </m:sSup>
                        </m:e>
                      </m:nary>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𝑑𝑡</m:t>
                      </m:r>
                    </m:oMath>
                  </m:oMathPara>
                </a14:m>
                <a:endParaRPr lang="en-US" dirty="0"/>
              </a:p>
            </p:txBody>
          </p:sp>
        </mc:Choice>
        <mc:Fallback xmlns="">
          <p:sp>
            <p:nvSpPr>
              <p:cNvPr id="38" name="TextBox 37">
                <a:extLst>
                  <a:ext uri="{FF2B5EF4-FFF2-40B4-BE49-F238E27FC236}">
                    <a16:creationId xmlns:a16="http://schemas.microsoft.com/office/drawing/2014/main" id="{02F3173D-39C3-DA9C-F939-59DEB1EA3945}"/>
                  </a:ext>
                </a:extLst>
              </p:cNvPr>
              <p:cNvSpPr txBox="1">
                <a:spLocks noRot="1" noChangeAspect="1" noMove="1" noResize="1" noEditPoints="1" noAdjustHandles="1" noChangeArrowheads="1" noChangeShapeType="1" noTextEdit="1"/>
              </p:cNvSpPr>
              <p:nvPr/>
            </p:nvSpPr>
            <p:spPr>
              <a:xfrm>
                <a:off x="977600" y="4274399"/>
                <a:ext cx="2843406" cy="622927"/>
              </a:xfrm>
              <a:prstGeom prst="rect">
                <a:avLst/>
              </a:prstGeom>
              <a:blipFill>
                <a:blip r:embed="rId5"/>
                <a:stretch>
                  <a:fillRect/>
                </a:stretch>
              </a:blipFill>
            </p:spPr>
            <p:txBody>
              <a:bodyPr/>
              <a:lstStyle/>
              <a:p>
                <a:r>
                  <a:rPr lang="en-US">
                    <a:noFill/>
                  </a:rPr>
                  <a:t> </a:t>
                </a:r>
              </a:p>
            </p:txBody>
          </p:sp>
        </mc:Fallback>
      </mc:AlternateContent>
      <p:pic>
        <p:nvPicPr>
          <p:cNvPr id="42" name="Picture 41">
            <a:extLst>
              <a:ext uri="{FF2B5EF4-FFF2-40B4-BE49-F238E27FC236}">
                <a16:creationId xmlns:a16="http://schemas.microsoft.com/office/drawing/2014/main" id="{6DAFA1C5-54FF-EBE9-6494-98AA79149F9E}"/>
              </a:ext>
            </a:extLst>
          </p:cNvPr>
          <p:cNvPicPr>
            <a:picLocks noChangeAspect="1"/>
          </p:cNvPicPr>
          <p:nvPr/>
        </p:nvPicPr>
        <p:blipFill>
          <a:blip r:embed="rId6"/>
          <a:srcRect r="3661" b="9939"/>
          <a:stretch>
            <a:fillRect/>
          </a:stretch>
        </p:blipFill>
        <p:spPr>
          <a:xfrm>
            <a:off x="4231677" y="1188720"/>
            <a:ext cx="7865248" cy="49401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C16"/>
        </a:solidFill>
        <a:effectLst/>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4CCFD1">
              <a:alpha val="78000"/>
            </a:srgbClr>
          </a:solidFill>
          <a:ln w="12700">
            <a:solidFill>
              <a:srgbClr val="4CCFD1">
                <a:alpha val="0"/>
              </a:srgbClr>
            </a:solidFill>
            <a:prstDash val="solid"/>
          </a:ln>
        </p:spPr>
        <p:txBody>
          <a:bodyPr/>
          <a:lstStyle/>
          <a:p>
            <a:endParaRPr lang="en-US"/>
          </a:p>
        </p:txBody>
      </p:sp>
      <p:sp>
        <p:nvSpPr>
          <p:cNvPr id="3" name="Text 1"/>
          <p:cNvSpPr/>
          <p:nvPr/>
        </p:nvSpPr>
        <p:spPr>
          <a:xfrm>
            <a:off x="566928" y="329183"/>
            <a:ext cx="2743200" cy="201168"/>
          </a:xfrm>
          <a:prstGeom prst="rect">
            <a:avLst/>
          </a:prstGeom>
          <a:noFill/>
          <a:ln/>
        </p:spPr>
        <p:txBody>
          <a:bodyPr wrap="square" lIns="0" tIns="0" rIns="0" bIns="0" rtlCol="0" anchor="ctr"/>
          <a:lstStyle/>
          <a:p>
            <a:pPr marL="0" indent="0">
              <a:buNone/>
            </a:pPr>
            <a:r>
              <a:rPr lang="en-US" sz="950" b="1" kern="0" spc="120" dirty="0">
                <a:solidFill>
                  <a:srgbClr val="4CCFD1"/>
                </a:solidFill>
                <a:latin typeface="Noto Sans" pitchFamily="34" charset="0"/>
                <a:ea typeface="Noto Sans" pitchFamily="34" charset="-122"/>
                <a:cs typeface="Noto Sans" pitchFamily="34" charset="-120"/>
              </a:rPr>
              <a:t>04 | PROPOSED METHOD</a:t>
            </a:r>
            <a:endParaRPr lang="en-US" sz="950" dirty="0"/>
          </a:p>
        </p:txBody>
      </p:sp>
      <p:sp>
        <p:nvSpPr>
          <p:cNvPr id="4" name="Text 2"/>
          <p:cNvSpPr/>
          <p:nvPr/>
        </p:nvSpPr>
        <p:spPr>
          <a:xfrm>
            <a:off x="566928" y="519784"/>
            <a:ext cx="11064240" cy="475488"/>
          </a:xfrm>
          <a:prstGeom prst="rect">
            <a:avLst/>
          </a:prstGeom>
          <a:noFill/>
          <a:ln/>
        </p:spPr>
        <p:txBody>
          <a:bodyPr wrap="square" lIns="0" tIns="0" rIns="0" bIns="0" rtlCol="0" anchor="ctr">
            <a:normAutofit/>
          </a:bodyPr>
          <a:lstStyle/>
          <a:p>
            <a:r>
              <a:rPr lang="en-US" sz="2400" b="1" dirty="0">
                <a:solidFill>
                  <a:schemeClr val="bg1"/>
                </a:solidFill>
              </a:rPr>
              <a:t>INSD: discover a new RNN solution by avoiding previous ones</a:t>
            </a:r>
          </a:p>
        </p:txBody>
      </p:sp>
      <p:sp>
        <p:nvSpPr>
          <p:cNvPr id="5" name="Text 3"/>
          <p:cNvSpPr/>
          <p:nvPr/>
        </p:nvSpPr>
        <p:spPr>
          <a:xfrm>
            <a:off x="566928" y="1015072"/>
            <a:ext cx="10607040" cy="305633"/>
          </a:xfrm>
          <a:prstGeom prst="rect">
            <a:avLst/>
          </a:prstGeom>
          <a:noFill/>
          <a:ln/>
        </p:spPr>
        <p:txBody>
          <a:bodyPr wrap="square" lIns="0" tIns="0" rIns="0" bIns="0" rtlCol="0" anchor="t">
            <a:normAutofit/>
          </a:bodyPr>
          <a:lstStyle/>
          <a:p>
            <a:r>
              <a:rPr lang="en-US" sz="1400" dirty="0">
                <a:solidFill>
                  <a:schemeClr val="bg1"/>
                </a:solidFill>
              </a:rPr>
              <a:t>Task performance is preserved; similarity to earlier neural dynamics is penalized</a:t>
            </a:r>
            <a:endParaRPr lang="en-US" sz="1600" dirty="0">
              <a:solidFill>
                <a:schemeClr val="bg1"/>
              </a:solidFill>
            </a:endParaRPr>
          </a:p>
        </p:txBody>
      </p:sp>
      <p:sp>
        <p:nvSpPr>
          <p:cNvPr id="22" name="Shape 20"/>
          <p:cNvSpPr/>
          <p:nvPr/>
        </p:nvSpPr>
        <p:spPr>
          <a:xfrm>
            <a:off x="457200" y="6528816"/>
            <a:ext cx="11274552" cy="0"/>
          </a:xfrm>
          <a:prstGeom prst="line">
            <a:avLst/>
          </a:prstGeom>
          <a:noFill/>
          <a:ln w="8890">
            <a:solidFill>
              <a:srgbClr val="193049"/>
            </a:solidFill>
            <a:prstDash val="solid"/>
          </a:ln>
        </p:spPr>
        <p:txBody>
          <a:bodyPr/>
          <a:lstStyle/>
          <a:p>
            <a:endParaRPr lang="en-US"/>
          </a:p>
        </p:txBody>
      </p:sp>
      <p:sp>
        <p:nvSpPr>
          <p:cNvPr id="23" name="Text 21"/>
          <p:cNvSpPr/>
          <p:nvPr/>
        </p:nvSpPr>
        <p:spPr>
          <a:xfrm>
            <a:off x="475488" y="6601968"/>
            <a:ext cx="2560320" cy="146304"/>
          </a:xfrm>
          <a:prstGeom prst="rect">
            <a:avLst/>
          </a:prstGeom>
          <a:noFill/>
          <a:ln/>
        </p:spPr>
        <p:txBody>
          <a:bodyPr wrap="square" lIns="0" tIns="0" rIns="0" bIns="0" rtlCol="0" anchor="ctr"/>
          <a:lstStyle/>
          <a:p>
            <a:pPr marL="0" indent="0">
              <a:buNone/>
            </a:pPr>
            <a:r>
              <a:rPr lang="en-US" sz="750" dirty="0">
                <a:solidFill>
                  <a:srgbClr val="7E90A4"/>
                </a:solidFill>
                <a:latin typeface="Noto Sans" pitchFamily="34" charset="0"/>
                <a:ea typeface="Noto Sans" pitchFamily="34" charset="-122"/>
                <a:cs typeface="Noto Sans" pitchFamily="34" charset="-120"/>
              </a:rPr>
              <a:t>Qian &amp; Pehlevan | ICLR 2026</a:t>
            </a:r>
            <a:endParaRPr lang="en-US" sz="750" dirty="0"/>
          </a:p>
        </p:txBody>
      </p:sp>
      <p:sp>
        <p:nvSpPr>
          <p:cNvPr id="25"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t>5</a:t>
            </a:fld>
            <a:endParaRPr lang="en-US"/>
          </a:p>
        </p:txBody>
      </p:sp>
      <p:pic>
        <p:nvPicPr>
          <p:cNvPr id="26" name="Picture 25">
            <a:extLst>
              <a:ext uri="{FF2B5EF4-FFF2-40B4-BE49-F238E27FC236}">
                <a16:creationId xmlns:a16="http://schemas.microsoft.com/office/drawing/2014/main" id="{26BE7BE3-626B-B0C7-4608-B746FAD6684C}"/>
              </a:ext>
            </a:extLst>
          </p:cNvPr>
          <p:cNvPicPr>
            <a:picLocks noChangeAspect="1"/>
          </p:cNvPicPr>
          <p:nvPr/>
        </p:nvPicPr>
        <p:blipFill>
          <a:blip r:embed="rId3"/>
          <a:srcRect l="2581" t="10179" r="958" b="5719"/>
          <a:stretch>
            <a:fillRect/>
          </a:stretch>
        </p:blipFill>
        <p:spPr>
          <a:xfrm>
            <a:off x="220910" y="1320705"/>
            <a:ext cx="11750180" cy="52812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C16"/>
        </a:solidFill>
        <a:effectLst/>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4CCFD1">
              <a:alpha val="78000"/>
            </a:srgbClr>
          </a:solidFill>
          <a:ln w="12700">
            <a:solidFill>
              <a:srgbClr val="4CCFD1">
                <a:alpha val="0"/>
              </a:srgbClr>
            </a:solidFill>
            <a:prstDash val="solid"/>
          </a:ln>
        </p:spPr>
        <p:txBody>
          <a:bodyPr/>
          <a:lstStyle/>
          <a:p>
            <a:endParaRPr lang="en-US"/>
          </a:p>
        </p:txBody>
      </p:sp>
      <p:sp>
        <p:nvSpPr>
          <p:cNvPr id="3" name="Text 1"/>
          <p:cNvSpPr/>
          <p:nvPr/>
        </p:nvSpPr>
        <p:spPr>
          <a:xfrm>
            <a:off x="566928" y="365760"/>
            <a:ext cx="2743200" cy="201168"/>
          </a:xfrm>
          <a:prstGeom prst="rect">
            <a:avLst/>
          </a:prstGeom>
          <a:noFill/>
          <a:ln/>
        </p:spPr>
        <p:txBody>
          <a:bodyPr wrap="square" lIns="0" tIns="0" rIns="0" bIns="0" rtlCol="0" anchor="ctr"/>
          <a:lstStyle/>
          <a:p>
            <a:pPr marL="0" indent="0">
              <a:buNone/>
            </a:pPr>
            <a:r>
              <a:rPr lang="en-US" sz="950" b="1" kern="0" spc="120" dirty="0">
                <a:solidFill>
                  <a:srgbClr val="4CCFD1"/>
                </a:solidFill>
                <a:latin typeface="Noto Sans" pitchFamily="34" charset="0"/>
                <a:ea typeface="Noto Sans" pitchFamily="34" charset="-122"/>
                <a:cs typeface="Noto Sans" pitchFamily="34" charset="-120"/>
              </a:rPr>
              <a:t>05 | CRITICAL DESIGN CHOICE</a:t>
            </a:r>
            <a:endParaRPr lang="en-US" sz="950" dirty="0"/>
          </a:p>
        </p:txBody>
      </p:sp>
      <p:sp>
        <p:nvSpPr>
          <p:cNvPr id="4" name="Text 2"/>
          <p:cNvSpPr/>
          <p:nvPr/>
        </p:nvSpPr>
        <p:spPr>
          <a:xfrm>
            <a:off x="566928" y="539496"/>
            <a:ext cx="11064240" cy="475488"/>
          </a:xfrm>
          <a:prstGeom prst="rect">
            <a:avLst/>
          </a:prstGeom>
          <a:noFill/>
          <a:ln/>
        </p:spPr>
        <p:txBody>
          <a:bodyPr wrap="square" lIns="0" tIns="0" rIns="0" bIns="0" rtlCol="0" anchor="ctr">
            <a:normAutofit/>
          </a:bodyPr>
          <a:lstStyle/>
          <a:p>
            <a:pPr marL="0" indent="0">
              <a:buNone/>
            </a:pPr>
            <a:r>
              <a:rPr lang="en-US" sz="2450" b="1" dirty="0">
                <a:solidFill>
                  <a:srgbClr val="F5F8FB"/>
                </a:solidFill>
                <a:latin typeface="Noto Sans Display" pitchFamily="34" charset="0"/>
                <a:ea typeface="Noto Sans Display" pitchFamily="34" charset="-122"/>
                <a:cs typeface="Noto Sans Display" pitchFamily="34" charset="-120"/>
              </a:rPr>
              <a:t>Why penalize the readout nullspace?</a:t>
            </a:r>
            <a:endParaRPr lang="en-US" sz="2450" dirty="0"/>
          </a:p>
        </p:txBody>
      </p:sp>
      <p:sp>
        <p:nvSpPr>
          <p:cNvPr id="5" name="Text 3"/>
          <p:cNvSpPr/>
          <p:nvPr/>
        </p:nvSpPr>
        <p:spPr>
          <a:xfrm>
            <a:off x="588320" y="1001268"/>
            <a:ext cx="11274552" cy="457200"/>
          </a:xfrm>
          <a:prstGeom prst="rect">
            <a:avLst/>
          </a:prstGeom>
          <a:noFill/>
          <a:ln/>
        </p:spPr>
        <p:txBody>
          <a:bodyPr wrap="square" lIns="0" tIns="0" rIns="0" bIns="0" rtlCol="0" anchor="t">
            <a:normAutofit/>
          </a:bodyPr>
          <a:lstStyle/>
          <a:p>
            <a:r>
              <a:rPr lang="en-US" sz="1200" b="1" dirty="0">
                <a:solidFill>
                  <a:schemeClr val="bg1"/>
                </a:solidFill>
              </a:rPr>
              <a:t>The output-constrained component must stay similar; INSD therefore penalizes only output-neutral activity.</a:t>
            </a:r>
            <a:endParaRPr lang="en-US" sz="1200" dirty="0">
              <a:solidFill>
                <a:schemeClr val="bg1"/>
              </a:solidFill>
            </a:endParaRPr>
          </a:p>
        </p:txBody>
      </p:sp>
      <p:sp>
        <p:nvSpPr>
          <p:cNvPr id="23" name="Shape 21"/>
          <p:cNvSpPr/>
          <p:nvPr/>
        </p:nvSpPr>
        <p:spPr>
          <a:xfrm>
            <a:off x="457200" y="6528816"/>
            <a:ext cx="11274552" cy="0"/>
          </a:xfrm>
          <a:prstGeom prst="line">
            <a:avLst/>
          </a:prstGeom>
          <a:noFill/>
          <a:ln w="8890">
            <a:solidFill>
              <a:srgbClr val="193049"/>
            </a:solidFill>
            <a:prstDash val="solid"/>
          </a:ln>
        </p:spPr>
        <p:txBody>
          <a:bodyPr/>
          <a:lstStyle/>
          <a:p>
            <a:endParaRPr lang="en-US"/>
          </a:p>
        </p:txBody>
      </p:sp>
      <p:sp>
        <p:nvSpPr>
          <p:cNvPr id="24" name="Text 22"/>
          <p:cNvSpPr/>
          <p:nvPr/>
        </p:nvSpPr>
        <p:spPr>
          <a:xfrm>
            <a:off x="475488" y="6601968"/>
            <a:ext cx="2560320" cy="146304"/>
          </a:xfrm>
          <a:prstGeom prst="rect">
            <a:avLst/>
          </a:prstGeom>
          <a:noFill/>
          <a:ln/>
        </p:spPr>
        <p:txBody>
          <a:bodyPr wrap="square" lIns="0" tIns="0" rIns="0" bIns="0" rtlCol="0" anchor="ctr"/>
          <a:lstStyle/>
          <a:p>
            <a:pPr marL="0" indent="0">
              <a:buNone/>
            </a:pPr>
            <a:r>
              <a:rPr lang="en-US" sz="750" dirty="0">
                <a:solidFill>
                  <a:srgbClr val="7E90A4"/>
                </a:solidFill>
                <a:latin typeface="Noto Sans" pitchFamily="34" charset="0"/>
                <a:ea typeface="Noto Sans" pitchFamily="34" charset="-122"/>
                <a:cs typeface="Noto Sans" pitchFamily="34" charset="-120"/>
              </a:rPr>
              <a:t>Qian &amp; Pehlevan | ICLR 2026</a:t>
            </a:r>
            <a:endParaRPr lang="en-US" sz="750" dirty="0"/>
          </a:p>
        </p:txBody>
      </p:sp>
      <p:sp>
        <p:nvSpPr>
          <p:cNvPr id="25"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t>6</a:t>
            </a:fld>
            <a:endParaRPr lang="en-US"/>
          </a:p>
        </p:txBody>
      </p:sp>
      <p:pic>
        <p:nvPicPr>
          <p:cNvPr id="27" name="Picture 26">
            <a:extLst>
              <a:ext uri="{FF2B5EF4-FFF2-40B4-BE49-F238E27FC236}">
                <a16:creationId xmlns:a16="http://schemas.microsoft.com/office/drawing/2014/main" id="{0342D5E8-D965-F356-896B-0AB320F01B0D}"/>
              </a:ext>
            </a:extLst>
          </p:cNvPr>
          <p:cNvPicPr>
            <a:picLocks noChangeAspect="1"/>
          </p:cNvPicPr>
          <p:nvPr/>
        </p:nvPicPr>
        <p:blipFill>
          <a:blip r:embed="rId3"/>
          <a:srcRect b="6579"/>
          <a:stretch>
            <a:fillRect/>
          </a:stretch>
        </p:blipFill>
        <p:spPr>
          <a:xfrm>
            <a:off x="671119" y="1220946"/>
            <a:ext cx="10932561" cy="53078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C16"/>
        </a:solidFill>
        <a:effectLst/>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4CCFD1">
              <a:alpha val="78000"/>
            </a:srgbClr>
          </a:solidFill>
          <a:ln w="12700">
            <a:solidFill>
              <a:srgbClr val="4CCFD1">
                <a:alpha val="0"/>
              </a:srgbClr>
            </a:solidFill>
            <a:prstDash val="solid"/>
          </a:ln>
        </p:spPr>
        <p:txBody>
          <a:bodyPr/>
          <a:lstStyle/>
          <a:p>
            <a:endParaRPr lang="en-US"/>
          </a:p>
        </p:txBody>
      </p:sp>
      <p:sp>
        <p:nvSpPr>
          <p:cNvPr id="3" name="Text 1"/>
          <p:cNvSpPr/>
          <p:nvPr/>
        </p:nvSpPr>
        <p:spPr>
          <a:xfrm>
            <a:off x="566928" y="365760"/>
            <a:ext cx="2743200" cy="201168"/>
          </a:xfrm>
          <a:prstGeom prst="rect">
            <a:avLst/>
          </a:prstGeom>
          <a:noFill/>
          <a:ln/>
        </p:spPr>
        <p:txBody>
          <a:bodyPr wrap="square" lIns="0" tIns="0" rIns="0" bIns="0" rtlCol="0" anchor="ctr"/>
          <a:lstStyle/>
          <a:p>
            <a:pPr marL="0" indent="0">
              <a:buNone/>
            </a:pPr>
            <a:r>
              <a:rPr lang="en-US" sz="950" b="1" kern="0" spc="120" dirty="0">
                <a:solidFill>
                  <a:srgbClr val="4CCFD1"/>
                </a:solidFill>
                <a:latin typeface="Noto Sans" pitchFamily="34" charset="0"/>
                <a:ea typeface="Noto Sans" pitchFamily="34" charset="-122"/>
                <a:cs typeface="Noto Sans" pitchFamily="34" charset="-120"/>
              </a:rPr>
              <a:t>06 | SIMILARITY METRIC</a:t>
            </a:r>
            <a:endParaRPr lang="en-US" sz="950" dirty="0"/>
          </a:p>
        </p:txBody>
      </p:sp>
      <p:sp>
        <p:nvSpPr>
          <p:cNvPr id="4" name="Text 2"/>
          <p:cNvSpPr/>
          <p:nvPr/>
        </p:nvSpPr>
        <p:spPr>
          <a:xfrm>
            <a:off x="566928" y="579302"/>
            <a:ext cx="11064240" cy="475488"/>
          </a:xfrm>
          <a:prstGeom prst="rect">
            <a:avLst/>
          </a:prstGeom>
          <a:noFill/>
          <a:ln/>
        </p:spPr>
        <p:txBody>
          <a:bodyPr wrap="square" lIns="0" tIns="0" rIns="0" bIns="0" rtlCol="0" anchor="ctr">
            <a:normAutofit/>
          </a:bodyPr>
          <a:lstStyle/>
          <a:p>
            <a:pPr marL="0" indent="0">
              <a:buNone/>
            </a:pPr>
            <a:r>
              <a:rPr lang="en-US" sz="2450" b="1" dirty="0">
                <a:solidFill>
                  <a:srgbClr val="F5F8FB"/>
                </a:solidFill>
                <a:latin typeface="Noto Sans Display" pitchFamily="34" charset="0"/>
                <a:ea typeface="Noto Sans Display" pitchFamily="34" charset="-122"/>
                <a:cs typeface="Noto Sans Display" pitchFamily="34" charset="-120"/>
              </a:rPr>
              <a:t>Linear predictivity is asymmetric by design</a:t>
            </a:r>
            <a:endParaRPr lang="en-US" sz="2450" dirty="0"/>
          </a:p>
        </p:txBody>
      </p:sp>
      <p:sp>
        <p:nvSpPr>
          <p:cNvPr id="27" name="Shape 25"/>
          <p:cNvSpPr/>
          <p:nvPr/>
        </p:nvSpPr>
        <p:spPr>
          <a:xfrm>
            <a:off x="457200" y="6528816"/>
            <a:ext cx="11274552" cy="0"/>
          </a:xfrm>
          <a:prstGeom prst="line">
            <a:avLst/>
          </a:prstGeom>
          <a:noFill/>
          <a:ln w="8890">
            <a:solidFill>
              <a:srgbClr val="193049"/>
            </a:solidFill>
            <a:prstDash val="solid"/>
          </a:ln>
        </p:spPr>
        <p:txBody>
          <a:bodyPr/>
          <a:lstStyle/>
          <a:p>
            <a:endParaRPr lang="en-US"/>
          </a:p>
        </p:txBody>
      </p:sp>
      <p:sp>
        <p:nvSpPr>
          <p:cNvPr id="28" name="Text 26"/>
          <p:cNvSpPr/>
          <p:nvPr/>
        </p:nvSpPr>
        <p:spPr>
          <a:xfrm>
            <a:off x="475488" y="6601968"/>
            <a:ext cx="2560320" cy="146304"/>
          </a:xfrm>
          <a:prstGeom prst="rect">
            <a:avLst/>
          </a:prstGeom>
          <a:noFill/>
          <a:ln/>
        </p:spPr>
        <p:txBody>
          <a:bodyPr wrap="square" lIns="0" tIns="0" rIns="0" bIns="0" rtlCol="0" anchor="ctr"/>
          <a:lstStyle/>
          <a:p>
            <a:pPr marL="0" indent="0">
              <a:buNone/>
            </a:pPr>
            <a:r>
              <a:rPr lang="en-US" sz="750" dirty="0">
                <a:solidFill>
                  <a:srgbClr val="7E90A4"/>
                </a:solidFill>
                <a:latin typeface="Noto Sans" pitchFamily="34" charset="0"/>
                <a:ea typeface="Noto Sans" pitchFamily="34" charset="-122"/>
                <a:cs typeface="Noto Sans" pitchFamily="34" charset="-120"/>
              </a:rPr>
              <a:t>Qian &amp; Pehlevan | ICLR 2026</a:t>
            </a:r>
            <a:endParaRPr lang="en-US" sz="750" dirty="0"/>
          </a:p>
        </p:txBody>
      </p:sp>
      <p:sp>
        <p:nvSpPr>
          <p:cNvPr id="29"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t>7</a:t>
            </a:fld>
            <a:endParaRPr lang="en-US"/>
          </a:p>
        </p:txBody>
      </p:sp>
      <p:pic>
        <p:nvPicPr>
          <p:cNvPr id="33" name="Picture 32">
            <a:extLst>
              <a:ext uri="{FF2B5EF4-FFF2-40B4-BE49-F238E27FC236}">
                <a16:creationId xmlns:a16="http://schemas.microsoft.com/office/drawing/2014/main" id="{FBE1DB33-D2B8-B794-9171-246974F17A7A}"/>
              </a:ext>
            </a:extLst>
          </p:cNvPr>
          <p:cNvPicPr>
            <a:picLocks noChangeAspect="1"/>
          </p:cNvPicPr>
          <p:nvPr/>
        </p:nvPicPr>
        <p:blipFill>
          <a:blip r:embed="rId3"/>
          <a:stretch>
            <a:fillRect/>
          </a:stretch>
        </p:blipFill>
        <p:spPr>
          <a:xfrm>
            <a:off x="746620" y="1054790"/>
            <a:ext cx="10628852" cy="5449896"/>
          </a:xfrm>
          <a:prstGeom prst="rect">
            <a:avLst/>
          </a:prstGeom>
        </p:spPr>
      </p:pic>
      <p:sp>
        <p:nvSpPr>
          <p:cNvPr id="5" name="Text 3"/>
          <p:cNvSpPr/>
          <p:nvPr/>
        </p:nvSpPr>
        <p:spPr>
          <a:xfrm>
            <a:off x="7466374" y="466344"/>
            <a:ext cx="3690984" cy="808689"/>
          </a:xfrm>
          <a:prstGeom prst="rect">
            <a:avLst/>
          </a:prstGeom>
          <a:noFill/>
          <a:ln/>
        </p:spPr>
        <p:txBody>
          <a:bodyPr wrap="square" lIns="0" tIns="0" rIns="0" bIns="0" rtlCol="0" anchor="t">
            <a:normAutofit/>
          </a:bodyPr>
          <a:lstStyle/>
          <a:p>
            <a:pPr marL="285750" indent="-285750">
              <a:buFont typeface="Wingdings" panose="05000000000000000000" pitchFamily="2" charset="2"/>
              <a:buChar char="ü"/>
            </a:pPr>
            <a:r>
              <a:rPr lang="en-US" sz="1400" dirty="0">
                <a:solidFill>
                  <a:schemeClr val="bg1"/>
                </a:solidFill>
              </a:rPr>
              <a:t>Can the previous solution be linearly recovered from the new RNN?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C16"/>
        </a:solidFill>
        <a:effectLst/>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4CCFD1">
              <a:alpha val="78000"/>
            </a:srgbClr>
          </a:solidFill>
          <a:ln w="12700">
            <a:solidFill>
              <a:srgbClr val="4CCFD1">
                <a:alpha val="0"/>
              </a:srgbClr>
            </a:solidFill>
            <a:prstDash val="solid"/>
          </a:ln>
        </p:spPr>
        <p:txBody>
          <a:bodyPr/>
          <a:lstStyle/>
          <a:p>
            <a:endParaRPr lang="en-US"/>
          </a:p>
        </p:txBody>
      </p:sp>
      <p:sp>
        <p:nvSpPr>
          <p:cNvPr id="3" name="Text 1"/>
          <p:cNvSpPr/>
          <p:nvPr/>
        </p:nvSpPr>
        <p:spPr>
          <a:xfrm>
            <a:off x="566928" y="365760"/>
            <a:ext cx="2743200" cy="201168"/>
          </a:xfrm>
          <a:prstGeom prst="rect">
            <a:avLst/>
          </a:prstGeom>
          <a:noFill/>
          <a:ln/>
        </p:spPr>
        <p:txBody>
          <a:bodyPr wrap="square" lIns="0" tIns="0" rIns="0" bIns="0" rtlCol="0" anchor="ctr"/>
          <a:lstStyle/>
          <a:p>
            <a:pPr marL="0" indent="0">
              <a:buNone/>
            </a:pPr>
            <a:r>
              <a:rPr lang="en-US" sz="950" b="1" kern="0" spc="120" dirty="0">
                <a:solidFill>
                  <a:srgbClr val="4CCFD1"/>
                </a:solidFill>
                <a:latin typeface="Noto Sans" pitchFamily="34" charset="0"/>
                <a:ea typeface="Noto Sans" pitchFamily="34" charset="-122"/>
                <a:cs typeface="Noto Sans" pitchFamily="34" charset="-120"/>
              </a:rPr>
              <a:t>07 | VALIDATION</a:t>
            </a:r>
            <a:endParaRPr lang="en-US" sz="950" dirty="0"/>
          </a:p>
        </p:txBody>
      </p:sp>
      <p:sp>
        <p:nvSpPr>
          <p:cNvPr id="4" name="Text 2"/>
          <p:cNvSpPr/>
          <p:nvPr/>
        </p:nvSpPr>
        <p:spPr>
          <a:xfrm>
            <a:off x="566928" y="713232"/>
            <a:ext cx="11064240" cy="475488"/>
          </a:xfrm>
          <a:prstGeom prst="rect">
            <a:avLst/>
          </a:prstGeom>
          <a:noFill/>
          <a:ln/>
        </p:spPr>
        <p:txBody>
          <a:bodyPr wrap="square" lIns="0" tIns="0" rIns="0" bIns="0" rtlCol="0" anchor="ctr">
            <a:normAutofit/>
          </a:bodyPr>
          <a:lstStyle/>
          <a:p>
            <a:pPr marL="0" indent="0">
              <a:buNone/>
            </a:pPr>
            <a:r>
              <a:rPr lang="en-US" sz="2450" b="1" dirty="0">
                <a:solidFill>
                  <a:srgbClr val="F5F8FB"/>
                </a:solidFill>
                <a:latin typeface="Noto Sans Display" pitchFamily="34" charset="0"/>
                <a:ea typeface="Noto Sans Display" pitchFamily="34" charset="-122"/>
                <a:cs typeface="Noto Sans Display" pitchFamily="34" charset="-120"/>
              </a:rPr>
              <a:t>How the authors rule out cosmetic differences</a:t>
            </a:r>
            <a:endParaRPr lang="en-US" sz="2450" dirty="0"/>
          </a:p>
        </p:txBody>
      </p:sp>
      <p:sp>
        <p:nvSpPr>
          <p:cNvPr id="5" name="Text 3"/>
          <p:cNvSpPr/>
          <p:nvPr/>
        </p:nvSpPr>
        <p:spPr>
          <a:xfrm>
            <a:off x="640080" y="1204155"/>
            <a:ext cx="10607040" cy="384048"/>
          </a:xfrm>
          <a:prstGeom prst="rect">
            <a:avLst/>
          </a:prstGeom>
          <a:noFill/>
          <a:ln/>
        </p:spPr>
        <p:txBody>
          <a:bodyPr wrap="square" lIns="0" tIns="0" rIns="0" bIns="0" rtlCol="0" anchor="t">
            <a:normAutofit/>
          </a:bodyPr>
          <a:lstStyle/>
          <a:p>
            <a:pPr marL="0" indent="0" algn="l">
              <a:buNone/>
            </a:pPr>
            <a:r>
              <a:rPr lang="en-US" sz="1720" dirty="0">
                <a:solidFill>
                  <a:srgbClr val="C8D3DF"/>
                </a:solidFill>
                <a:latin typeface="Noto Sans Display" pitchFamily="34" charset="0"/>
                <a:ea typeface="Noto Sans Display" pitchFamily="34" charset="-122"/>
                <a:cs typeface="Noto Sans Display" pitchFamily="34" charset="-120"/>
              </a:rPr>
              <a:t>The paper validates INSD alternatives at the representation, dynamical, and functional levels.</a:t>
            </a:r>
            <a:endParaRPr lang="en-US" sz="1720" dirty="0"/>
          </a:p>
        </p:txBody>
      </p:sp>
      <p:sp>
        <p:nvSpPr>
          <p:cNvPr id="27" name="Shape 25"/>
          <p:cNvSpPr/>
          <p:nvPr/>
        </p:nvSpPr>
        <p:spPr>
          <a:xfrm>
            <a:off x="457200" y="6528816"/>
            <a:ext cx="11274552" cy="0"/>
          </a:xfrm>
          <a:prstGeom prst="line">
            <a:avLst/>
          </a:prstGeom>
          <a:noFill/>
          <a:ln w="8890">
            <a:solidFill>
              <a:srgbClr val="193049"/>
            </a:solidFill>
            <a:prstDash val="solid"/>
          </a:ln>
        </p:spPr>
        <p:txBody>
          <a:bodyPr/>
          <a:lstStyle/>
          <a:p>
            <a:endParaRPr lang="en-US"/>
          </a:p>
        </p:txBody>
      </p:sp>
      <p:sp>
        <p:nvSpPr>
          <p:cNvPr id="28" name="Text 26"/>
          <p:cNvSpPr/>
          <p:nvPr/>
        </p:nvSpPr>
        <p:spPr>
          <a:xfrm>
            <a:off x="475488" y="6601968"/>
            <a:ext cx="2560320" cy="146304"/>
          </a:xfrm>
          <a:prstGeom prst="rect">
            <a:avLst/>
          </a:prstGeom>
          <a:noFill/>
          <a:ln/>
        </p:spPr>
        <p:txBody>
          <a:bodyPr wrap="square" lIns="0" tIns="0" rIns="0" bIns="0" rtlCol="0" anchor="ctr"/>
          <a:lstStyle/>
          <a:p>
            <a:pPr marL="0" indent="0">
              <a:buNone/>
            </a:pPr>
            <a:r>
              <a:rPr lang="en-US" sz="750" dirty="0">
                <a:solidFill>
                  <a:srgbClr val="7E90A4"/>
                </a:solidFill>
                <a:latin typeface="Noto Sans" pitchFamily="34" charset="0"/>
                <a:ea typeface="Noto Sans" pitchFamily="34" charset="-122"/>
                <a:cs typeface="Noto Sans" pitchFamily="34" charset="-120"/>
              </a:rPr>
              <a:t>Qian &amp; Pehlevan | ICLR 2026</a:t>
            </a:r>
            <a:endParaRPr lang="en-US" sz="750" dirty="0"/>
          </a:p>
        </p:txBody>
      </p:sp>
      <p:sp>
        <p:nvSpPr>
          <p:cNvPr id="29"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t>8</a:t>
            </a:fld>
            <a:endParaRPr lang="en-US"/>
          </a:p>
        </p:txBody>
      </p:sp>
      <p:pic>
        <p:nvPicPr>
          <p:cNvPr id="31" name="Picture 30">
            <a:extLst>
              <a:ext uri="{FF2B5EF4-FFF2-40B4-BE49-F238E27FC236}">
                <a16:creationId xmlns:a16="http://schemas.microsoft.com/office/drawing/2014/main" id="{FEB8E5F2-E545-2E00-3855-C526C27ECEB5}"/>
              </a:ext>
            </a:extLst>
          </p:cNvPr>
          <p:cNvPicPr>
            <a:picLocks noChangeAspect="1"/>
          </p:cNvPicPr>
          <p:nvPr/>
        </p:nvPicPr>
        <p:blipFill>
          <a:blip r:embed="rId3"/>
          <a:srcRect l="-27" t="13383" r="27" b="7177"/>
          <a:stretch>
            <a:fillRect/>
          </a:stretch>
        </p:blipFill>
        <p:spPr>
          <a:xfrm>
            <a:off x="944880" y="1560017"/>
            <a:ext cx="10254703" cy="49040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C16"/>
        </a:solidFill>
        <a:effectLst/>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4CCFD1">
              <a:alpha val="78000"/>
            </a:srgbClr>
          </a:solidFill>
          <a:ln w="12700">
            <a:solidFill>
              <a:srgbClr val="4CCFD1">
                <a:alpha val="0"/>
              </a:srgbClr>
            </a:solidFill>
            <a:prstDash val="solid"/>
          </a:ln>
        </p:spPr>
        <p:txBody>
          <a:bodyPr/>
          <a:lstStyle/>
          <a:p>
            <a:endParaRPr lang="en-US"/>
          </a:p>
        </p:txBody>
      </p:sp>
      <p:sp>
        <p:nvSpPr>
          <p:cNvPr id="3" name="Text 1"/>
          <p:cNvSpPr/>
          <p:nvPr/>
        </p:nvSpPr>
        <p:spPr>
          <a:xfrm>
            <a:off x="566928" y="256032"/>
            <a:ext cx="2743200" cy="201168"/>
          </a:xfrm>
          <a:prstGeom prst="rect">
            <a:avLst/>
          </a:prstGeom>
          <a:noFill/>
          <a:ln/>
        </p:spPr>
        <p:txBody>
          <a:bodyPr wrap="square" lIns="0" tIns="0" rIns="0" bIns="0" rtlCol="0" anchor="ctr"/>
          <a:lstStyle/>
          <a:p>
            <a:pPr marL="0" indent="0">
              <a:buNone/>
            </a:pPr>
            <a:r>
              <a:rPr lang="en-US" sz="950" b="1" kern="0" spc="120" dirty="0">
                <a:solidFill>
                  <a:srgbClr val="4CCFD1"/>
                </a:solidFill>
                <a:latin typeface="Noto Sans" pitchFamily="34" charset="0"/>
                <a:ea typeface="Noto Sans" pitchFamily="34" charset="-122"/>
                <a:cs typeface="Noto Sans" pitchFamily="34" charset="-120"/>
              </a:rPr>
              <a:t>08 | RESULTS</a:t>
            </a:r>
            <a:endParaRPr lang="en-US" sz="950" dirty="0"/>
          </a:p>
        </p:txBody>
      </p:sp>
      <p:sp>
        <p:nvSpPr>
          <p:cNvPr id="4" name="Text 2"/>
          <p:cNvSpPr/>
          <p:nvPr/>
        </p:nvSpPr>
        <p:spPr>
          <a:xfrm>
            <a:off x="546403" y="381530"/>
            <a:ext cx="11064240" cy="475488"/>
          </a:xfrm>
          <a:prstGeom prst="rect">
            <a:avLst/>
          </a:prstGeom>
          <a:noFill/>
          <a:ln/>
        </p:spPr>
        <p:txBody>
          <a:bodyPr wrap="square" lIns="0" tIns="0" rIns="0" bIns="0" rtlCol="0" anchor="ctr">
            <a:normAutofit/>
          </a:bodyPr>
          <a:lstStyle/>
          <a:p>
            <a:pPr marL="0" indent="0">
              <a:buNone/>
            </a:pPr>
            <a:r>
              <a:rPr lang="en-US" sz="2450" b="1" dirty="0">
                <a:solidFill>
                  <a:srgbClr val="F5F8FB"/>
                </a:solidFill>
                <a:latin typeface="Noto Sans Display" pitchFamily="34" charset="0"/>
                <a:ea typeface="Noto Sans Display" pitchFamily="34" charset="-122"/>
                <a:cs typeface="Noto Sans Display" pitchFamily="34" charset="-120"/>
              </a:rPr>
              <a:t>INSD changes the dynamical mechanism, not just the plot</a:t>
            </a:r>
            <a:endParaRPr lang="en-US" sz="2450" dirty="0"/>
          </a:p>
        </p:txBody>
      </p:sp>
      <p:sp>
        <p:nvSpPr>
          <p:cNvPr id="15" name="Shape 11"/>
          <p:cNvSpPr/>
          <p:nvPr/>
        </p:nvSpPr>
        <p:spPr>
          <a:xfrm>
            <a:off x="457200" y="6528816"/>
            <a:ext cx="11274552" cy="0"/>
          </a:xfrm>
          <a:prstGeom prst="line">
            <a:avLst/>
          </a:prstGeom>
          <a:noFill/>
          <a:ln w="8890">
            <a:solidFill>
              <a:srgbClr val="193049"/>
            </a:solidFill>
            <a:prstDash val="solid"/>
          </a:ln>
        </p:spPr>
        <p:txBody>
          <a:bodyPr/>
          <a:lstStyle/>
          <a:p>
            <a:endParaRPr lang="en-US"/>
          </a:p>
        </p:txBody>
      </p:sp>
      <p:sp>
        <p:nvSpPr>
          <p:cNvPr id="16" name="Text 12"/>
          <p:cNvSpPr/>
          <p:nvPr/>
        </p:nvSpPr>
        <p:spPr>
          <a:xfrm>
            <a:off x="475488" y="6601968"/>
            <a:ext cx="2560320" cy="146304"/>
          </a:xfrm>
          <a:prstGeom prst="rect">
            <a:avLst/>
          </a:prstGeom>
          <a:noFill/>
          <a:ln/>
        </p:spPr>
        <p:txBody>
          <a:bodyPr wrap="square" lIns="0" tIns="0" rIns="0" bIns="0" rtlCol="0" anchor="ctr"/>
          <a:lstStyle/>
          <a:p>
            <a:pPr marL="0" indent="0">
              <a:buNone/>
            </a:pPr>
            <a:r>
              <a:rPr lang="en-US" sz="750" dirty="0">
                <a:solidFill>
                  <a:srgbClr val="7E90A4"/>
                </a:solidFill>
                <a:latin typeface="Noto Sans" pitchFamily="34" charset="0"/>
                <a:ea typeface="Noto Sans" pitchFamily="34" charset="-122"/>
                <a:cs typeface="Noto Sans" pitchFamily="34" charset="-120"/>
              </a:rPr>
              <a:t>Qian &amp; Pehlevan | ICLR 2026</a:t>
            </a:r>
            <a:endParaRPr lang="en-US" sz="750" dirty="0"/>
          </a:p>
        </p:txBody>
      </p:sp>
      <p:sp>
        <p:nvSpPr>
          <p:cNvPr id="25"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t>9</a:t>
            </a:fld>
            <a:endParaRPr lang="en-US"/>
          </a:p>
        </p:txBody>
      </p:sp>
      <p:pic>
        <p:nvPicPr>
          <p:cNvPr id="18" name="Picture 17">
            <a:extLst>
              <a:ext uri="{FF2B5EF4-FFF2-40B4-BE49-F238E27FC236}">
                <a16:creationId xmlns:a16="http://schemas.microsoft.com/office/drawing/2014/main" id="{90EAE1B9-111C-B38B-C7ED-456B98A92738}"/>
              </a:ext>
            </a:extLst>
          </p:cNvPr>
          <p:cNvPicPr>
            <a:picLocks noChangeAspect="1"/>
          </p:cNvPicPr>
          <p:nvPr/>
        </p:nvPicPr>
        <p:blipFill>
          <a:blip r:embed="rId3"/>
          <a:stretch>
            <a:fillRect/>
          </a:stretch>
        </p:blipFill>
        <p:spPr>
          <a:xfrm>
            <a:off x="746620" y="783866"/>
            <a:ext cx="10779853" cy="58181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C16"/>
        </a:solidFill>
        <a:effectLst/>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4CCFD1">
              <a:alpha val="78000"/>
            </a:srgbClr>
          </a:solidFill>
          <a:ln w="12700">
            <a:solidFill>
              <a:srgbClr val="4CCFD1">
                <a:alpha val="0"/>
              </a:srgbClr>
            </a:solidFill>
            <a:prstDash val="solid"/>
          </a:ln>
        </p:spPr>
        <p:txBody>
          <a:bodyPr/>
          <a:lstStyle/>
          <a:p>
            <a:endParaRPr lang="en-US"/>
          </a:p>
        </p:txBody>
      </p:sp>
      <p:sp>
        <p:nvSpPr>
          <p:cNvPr id="12" name="Shape 9"/>
          <p:cNvSpPr/>
          <p:nvPr/>
        </p:nvSpPr>
        <p:spPr>
          <a:xfrm>
            <a:off x="768096" y="5779008"/>
            <a:ext cx="10497312" cy="0"/>
          </a:xfrm>
          <a:prstGeom prst="line">
            <a:avLst/>
          </a:prstGeom>
          <a:noFill/>
          <a:ln w="10160">
            <a:solidFill>
              <a:srgbClr val="193049"/>
            </a:solidFill>
            <a:prstDash val="solid"/>
            <a:tailEnd type="none"/>
          </a:ln>
        </p:spPr>
        <p:txBody>
          <a:bodyPr/>
          <a:lstStyle/>
          <a:p>
            <a:endParaRPr lang="en-US"/>
          </a:p>
        </p:txBody>
      </p:sp>
      <p:sp>
        <p:nvSpPr>
          <p:cNvPr id="15" name="Shape 12"/>
          <p:cNvSpPr/>
          <p:nvPr/>
        </p:nvSpPr>
        <p:spPr>
          <a:xfrm>
            <a:off x="457200" y="6528816"/>
            <a:ext cx="11274552" cy="0"/>
          </a:xfrm>
          <a:prstGeom prst="line">
            <a:avLst/>
          </a:prstGeom>
          <a:noFill/>
          <a:ln w="8890">
            <a:solidFill>
              <a:srgbClr val="193049"/>
            </a:solidFill>
            <a:prstDash val="solid"/>
          </a:ln>
        </p:spPr>
        <p:txBody>
          <a:bodyPr/>
          <a:lstStyle/>
          <a:p>
            <a:endParaRPr lang="en-US"/>
          </a:p>
        </p:txBody>
      </p:sp>
      <p:sp>
        <p:nvSpPr>
          <p:cNvPr id="16" name="Text 13"/>
          <p:cNvSpPr/>
          <p:nvPr/>
        </p:nvSpPr>
        <p:spPr>
          <a:xfrm>
            <a:off x="475488" y="6601968"/>
            <a:ext cx="2560320" cy="146304"/>
          </a:xfrm>
          <a:prstGeom prst="rect">
            <a:avLst/>
          </a:prstGeom>
          <a:noFill/>
          <a:ln/>
        </p:spPr>
        <p:txBody>
          <a:bodyPr wrap="square" lIns="0" tIns="0" rIns="0" bIns="0" rtlCol="0" anchor="ctr"/>
          <a:lstStyle/>
          <a:p>
            <a:pPr marL="0" indent="0">
              <a:buNone/>
            </a:pPr>
            <a:r>
              <a:rPr lang="en-US" sz="750" dirty="0">
                <a:solidFill>
                  <a:srgbClr val="7E90A4"/>
                </a:solidFill>
                <a:latin typeface="Noto Sans" pitchFamily="34" charset="0"/>
                <a:ea typeface="Noto Sans" pitchFamily="34" charset="-122"/>
                <a:cs typeface="Noto Sans" pitchFamily="34" charset="-120"/>
              </a:rPr>
              <a:t>Qian &amp; Pehlevan | ICLR 2026</a:t>
            </a:r>
            <a:endParaRPr lang="en-US" sz="750" dirty="0"/>
          </a:p>
        </p:txBody>
      </p:sp>
      <p:sp>
        <p:nvSpPr>
          <p:cNvPr id="25" name="Slide Number Placeholder 0"/>
          <p:cNvSpPr>
            <a:spLocks noGrp="1"/>
          </p:cNvSpPr>
          <p:nvPr>
            <p:ph type="sldNum" sz="quarter" idx="4294967295"/>
          </p:nvPr>
        </p:nvSpPr>
        <p:spPr>
          <a:xfrm>
            <a:off x="11466576" y="6601968"/>
            <a:ext cx="256032" cy="146304"/>
          </a:xfrm>
          <a:prstGeom prst="rect">
            <a:avLst/>
          </a:prstGeom>
          <a:extLst>
            <a:ext uri="{C572A759-6A51-4108-AA02-DFA0A04FC94B}">
              <ma14:wrappingTextBoxFlag xmlns:ma14="http://schemas.microsoft.com/office/mac/drawingml/2011/main" xmlns="" val="0"/>
            </a:ext>
          </a:extLst>
        </p:spPr>
        <p:txBody>
          <a:bodyPr/>
          <a:lstStyle>
            <a:lvl1pPr>
              <a:defRPr sz="750">
                <a:solidFill>
                  <a:srgbClr val="6E7F90"/>
                </a:solidFill>
                <a:latin typeface="Noto Sans"/>
                <a:ea typeface="Noto Sans"/>
                <a:cs typeface="Noto Sans"/>
              </a:defRPr>
            </a:lvl1pPr>
          </a:lstStyle>
          <a:p>
            <a:pPr algn="r"/>
            <a:fld id="{F7021451-1387-4CA6-816F-3879F97B5CBC}" type="slidenum">
              <a:rPr lang="en-US" b="0"/>
              <a:t>10</a:t>
            </a:fld>
            <a:endParaRPr lang="en-US"/>
          </a:p>
        </p:txBody>
      </p:sp>
      <p:pic>
        <p:nvPicPr>
          <p:cNvPr id="20" name="Picture 19">
            <a:extLst>
              <a:ext uri="{FF2B5EF4-FFF2-40B4-BE49-F238E27FC236}">
                <a16:creationId xmlns:a16="http://schemas.microsoft.com/office/drawing/2014/main" id="{13CFFCE8-5F1E-AB52-8DEA-539C43FD596E}"/>
              </a:ext>
            </a:extLst>
          </p:cNvPr>
          <p:cNvPicPr>
            <a:picLocks noChangeAspect="1"/>
          </p:cNvPicPr>
          <p:nvPr/>
        </p:nvPicPr>
        <p:blipFill>
          <a:blip r:embed="rId3"/>
          <a:stretch>
            <a:fillRect/>
          </a:stretch>
        </p:blipFill>
        <p:spPr>
          <a:xfrm>
            <a:off x="308296" y="79454"/>
            <a:ext cx="11572360" cy="666881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1F4A73-45D8-3769-E592-CEE7E13DE119}"/>
              </a:ext>
            </a:extLst>
          </p:cNvPr>
          <p:cNvPicPr>
            <a:picLocks noChangeAspect="1"/>
          </p:cNvPicPr>
          <p:nvPr/>
        </p:nvPicPr>
        <p:blipFill>
          <a:blip r:embed="rId2"/>
          <a:stretch>
            <a:fillRect/>
          </a:stretch>
        </p:blipFill>
        <p:spPr>
          <a:xfrm>
            <a:off x="478172" y="151181"/>
            <a:ext cx="10754244" cy="6052478"/>
          </a:xfrm>
          <a:prstGeom prst="rect">
            <a:avLst/>
          </a:prstGeom>
        </p:spPr>
      </p:pic>
    </p:spTree>
    <p:extLst>
      <p:ext uri="{BB962C8B-B14F-4D97-AF65-F5344CB8AC3E}">
        <p14:creationId xmlns:p14="http://schemas.microsoft.com/office/powerpoint/2010/main" val="816762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486</TotalTime>
  <Words>1221</Words>
  <Application>Microsoft Office PowerPoint</Application>
  <PresentationFormat>Widescreen</PresentationFormat>
  <Paragraphs>89</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Cambria Math</vt:lpstr>
      <vt:lpstr>Noto Sans</vt:lpstr>
      <vt:lpstr>Noto Sans (Body)</vt:lpstr>
      <vt:lpstr>Noto Sans Display</vt:lpstr>
      <vt:lpstr>Noto Sans Display (Headings)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Discovering Alternative Solutions Beyond the Simplicity Bias in RNNs</dc:title>
  <dc:subject>Methods-focused PhD interview presentation on INSD and simplicity bias in RNNs</dc:subject>
  <dc:creator>OpenAI</dc:creator>
  <cp:lastModifiedBy>User</cp:lastModifiedBy>
  <cp:revision>24</cp:revision>
  <dcterms:created xsi:type="dcterms:W3CDTF">2026-08-27T14:59:53Z</dcterms:created>
  <dcterms:modified xsi:type="dcterms:W3CDTF">2026-08-28T13:43:51Z</dcterms:modified>
</cp:coreProperties>
</file>